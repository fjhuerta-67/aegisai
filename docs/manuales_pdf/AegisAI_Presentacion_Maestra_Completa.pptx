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82880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Arial"/>
              </a:rPr>
              <a:t>AEGIS</a:t>
            </a:r>
            <a:r>
              <a:rPr sz="1800" b="1">
                <a:solidFill>
                  <a:srgbClr val="60A5FA"/>
                </a:solidFill>
                <a:latin typeface="Arial"/>
              </a:rPr>
              <a:t>AI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691640" y="320040"/>
            <a:ext cx="3108960" cy="292608"/>
          </a:xfrm>
          <a:prstGeom prst="roundRect">
            <a:avLst/>
          </a:prstGeom>
          <a:solidFill>
            <a:srgbClr val="122142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18288" bIns="18288"/>
          <a:lstStyle/>
          <a:p>
            <a:pPr algn="ctr"/>
            <a:r>
              <a:rPr sz="850" b="1">
                <a:solidFill>
                  <a:srgbClr val="60A5FA"/>
                </a:solidFill>
                <a:latin typeface="Arial"/>
              </a:rPr>
              <a:t>PRESENTACIÓN MAESTRA UNIFICADA (EJECUTIVA + EVOLUCIÓN + FINOPS)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310896"/>
            <a:ext cx="112471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>
                <a:solidFill>
                  <a:srgbClr val="94A3B8"/>
                </a:solidFill>
                <a:latin typeface="Courier New"/>
              </a:rPr>
              <a:t>01 / 16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94944"/>
            <a:ext cx="11094415" cy="13716"/>
          </a:xfrm>
          <a:prstGeom prst="rect">
            <a:avLst/>
          </a:prstGeom>
          <a:solidFill>
            <a:srgbClr val="2D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6327648"/>
            <a:ext cx="11094415" cy="13716"/>
          </a:xfrm>
          <a:prstGeom prst="rect">
            <a:avLst/>
          </a:prstGeom>
          <a:solidFill>
            <a:srgbClr val="2D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382512"/>
            <a:ext cx="54864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94A3B8"/>
                </a:solidFill>
                <a:latin typeface="Arial"/>
              </a:rPr>
              <a:t>AegisAI Enterprise v2.5 • Presentación Maestra Unificada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35040" y="6382512"/>
            <a:ext cx="5608015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94A3B8"/>
                </a:solidFill>
                <a:latin typeface="Arial"/>
              </a:rPr>
              <a:t>Google Cloud Run • Vertex AI • Model Armor • AutoSxS • SCC AI Protection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834640" y="1325880"/>
            <a:ext cx="6522415" cy="365760"/>
          </a:xfrm>
          <a:prstGeom prst="roundRect">
            <a:avLst/>
          </a:prstGeom>
          <a:solidFill>
            <a:srgbClr val="122142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38BDF8"/>
                </a:solidFill>
                <a:latin typeface="Arial"/>
              </a:rPr>
              <a:t>GOOGLE CLOUD AI SECURITY, ISO/IEC 42001 AIMS &amp; GENAI FINOPS PLATFORM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1874519"/>
            <a:ext cx="10728655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FFFFF"/>
                </a:solidFill>
                <a:latin typeface="Arial"/>
              </a:rPr>
              <a:t>AegisAI Enterprise: Arquitectura,</a:t>
            </a:r>
          </a:p>
          <a:p>
            <a:pPr algn="ctr">
              <a:spcBef>
                <a:spcPts val="400"/>
              </a:spcBef>
            </a:pPr>
            <a:r>
              <a:rPr sz="3400" b="1">
                <a:solidFill>
                  <a:srgbClr val="38BDF8"/>
                </a:solidFill>
                <a:latin typeface="Arial"/>
              </a:rPr>
              <a:t>Evolución, Auto-Auditoría y FinOps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3520440"/>
            <a:ext cx="9997135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>
                <a:solidFill>
                  <a:srgbClr val="E2E8F0"/>
                </a:solidFill>
                <a:latin typeface="Arial"/>
              </a:rPr>
              <a:t>Presentación Maestra Unificada de 16 diapositivas que combina la Presentación Ejecutiva y de Arquitectura Técnica con el Stack GCP ISO 42001 en 3 Fases, la Evolución en 4 Etapas (AI Studio ➔ Antigravity), Auto-Auditoría (68.9% ➔ 97.8%), Roadshow del Release Candidate y Benchmark FinOps ($19.41 USD de Costo Total de Creación).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60907" y="4892040"/>
            <a:ext cx="3337560" cy="420624"/>
          </a:xfrm>
          <a:prstGeom prst="roundRect">
            <a:avLst>
              <a:gd name="adj" fmla="val 50000"/>
            </a:avLst>
          </a:prstGeom>
          <a:solidFill>
            <a:srgbClr val="122142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50" b="1">
                <a:solidFill>
                  <a:srgbClr val="38BDF8"/>
                </a:solidFill>
                <a:latin typeface="Arial"/>
              </a:rPr>
              <a:t>1. PoC en AI Studio (Gemini 3.8–3.6 Flash)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27067" y="4892040"/>
            <a:ext cx="3337560" cy="420624"/>
          </a:xfrm>
          <a:prstGeom prst="roundRect">
            <a:avLst>
              <a:gd name="adj" fmla="val 50000"/>
            </a:avLst>
          </a:prstGeom>
          <a:solidFill>
            <a:srgbClr val="122142"/>
          </a:solidFill>
          <a:ln w="1270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50" b="1">
                <a:solidFill>
                  <a:srgbClr val="60A5FA"/>
                </a:solidFill>
                <a:latin typeface="Arial"/>
              </a:rPr>
              <a:t>2. Ingeniería en Antigravity (3.8 Flash)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93227" y="4892040"/>
            <a:ext cx="3337560" cy="420624"/>
          </a:xfrm>
          <a:prstGeom prst="roundRect">
            <a:avLst>
              <a:gd name="adj" fmla="val 50000"/>
            </a:avLst>
          </a:prstGeom>
          <a:solidFill>
            <a:srgbClr val="0B2E2B"/>
          </a:solidFill>
          <a:ln w="127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50" b="1">
                <a:solidFill>
                  <a:srgbClr val="34D399"/>
                </a:solidFill>
                <a:latin typeface="Arial"/>
              </a:rPr>
              <a:t>3. Auto-Auditoría: 68.9% ➔ 97.8%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60907" y="5458968"/>
            <a:ext cx="3337560" cy="420624"/>
          </a:xfrm>
          <a:prstGeom prst="roundRect">
            <a:avLst>
              <a:gd name="adj" fmla="val 50000"/>
            </a:avLst>
          </a:prstGeom>
          <a:solidFill>
            <a:srgbClr val="261840"/>
          </a:solidFill>
          <a:ln w="12700">
            <a:solidFill>
              <a:srgbClr val="D8B4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50" b="1">
                <a:solidFill>
                  <a:srgbClr val="D8B4FE"/>
                </a:solidFill>
                <a:latin typeface="Arial"/>
              </a:rPr>
              <a:t>4. RC: Farmacias del Ahorro • AMF • Coppel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427067" y="5458968"/>
            <a:ext cx="3337560" cy="420624"/>
          </a:xfrm>
          <a:prstGeom prst="roundRect">
            <a:avLst>
              <a:gd name="adj" fmla="val 50000"/>
            </a:avLst>
          </a:prstGeom>
          <a:solidFill>
            <a:srgbClr val="122142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50" b="1">
                <a:solidFill>
                  <a:srgbClr val="38BDF8"/>
                </a:solidFill>
                <a:latin typeface="Arial"/>
              </a:rPr>
              <a:t>5. Stack GCP ISO 42001 en 3 Fases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993227" y="5458968"/>
            <a:ext cx="3337560" cy="420624"/>
          </a:xfrm>
          <a:prstGeom prst="roundRect">
            <a:avLst>
              <a:gd name="adj" fmla="val 50000"/>
            </a:avLst>
          </a:prstGeom>
          <a:solidFill>
            <a:srgbClr val="0B2E2B"/>
          </a:solidFill>
          <a:ln w="127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50" b="1">
                <a:solidFill>
                  <a:srgbClr val="34D399"/>
                </a:solidFill>
                <a:latin typeface="Arial"/>
              </a:rPr>
              <a:t>6. Costo Total de Creación: $19.41 USD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82880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Arial"/>
              </a:rPr>
              <a:t>AEGIS</a:t>
            </a:r>
            <a:r>
              <a:rPr sz="1800" b="1">
                <a:solidFill>
                  <a:srgbClr val="60A5FA"/>
                </a:solidFill>
                <a:latin typeface="Arial"/>
              </a:rPr>
              <a:t>AI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691640" y="320040"/>
            <a:ext cx="3108960" cy="292608"/>
          </a:xfrm>
          <a:prstGeom prst="roundRect">
            <a:avLst/>
          </a:prstGeom>
          <a:solidFill>
            <a:srgbClr val="122142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18288" bIns="18288"/>
          <a:lstStyle/>
          <a:p>
            <a:pPr algn="ctr"/>
            <a:r>
              <a:rPr sz="850" b="1">
                <a:solidFill>
                  <a:srgbClr val="60A5FA"/>
                </a:solidFill>
                <a:latin typeface="Arial"/>
              </a:rPr>
              <a:t>PANORAMA DE RIESGOS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310896"/>
            <a:ext cx="112471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>
                <a:solidFill>
                  <a:srgbClr val="94A3B8"/>
                </a:solidFill>
                <a:latin typeface="Courier New"/>
              </a:rPr>
              <a:t>02 / 16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94944"/>
            <a:ext cx="11094415" cy="13716"/>
          </a:xfrm>
          <a:prstGeom prst="rect">
            <a:avLst/>
          </a:prstGeom>
          <a:solidFill>
            <a:srgbClr val="2D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6327648"/>
            <a:ext cx="11094415" cy="13716"/>
          </a:xfrm>
          <a:prstGeom prst="rect">
            <a:avLst/>
          </a:prstGeom>
          <a:solidFill>
            <a:srgbClr val="2D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382512"/>
            <a:ext cx="54864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94A3B8"/>
                </a:solidFill>
                <a:latin typeface="Arial"/>
              </a:rPr>
              <a:t>AegisAI Enterprise • Diagnóstico de Riesgos de IA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35040" y="6382512"/>
            <a:ext cx="5608015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94A3B8"/>
                </a:solidFill>
                <a:latin typeface="Arial"/>
              </a:rPr>
              <a:t>Fuente: IBM Cost of a Data Breach 2025, OWASP AI-SVS v1.0 e ISO/IEC 42001:2023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786384"/>
            <a:ext cx="11094415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50" b="1">
                <a:solidFill>
                  <a:srgbClr val="38BDF8"/>
                </a:solidFill>
                <a:latin typeface="Arial"/>
              </a:rPr>
              <a:t>EL PROBLEMA A RESOLVER</a:t>
            </a:r>
          </a:p>
          <a:p>
            <a:pPr>
              <a:spcBef>
                <a:spcPts val="200"/>
              </a:spcBef>
            </a:pPr>
            <a:r>
              <a:rPr sz="2200" b="1">
                <a:solidFill>
                  <a:srgbClr val="FFFFFF"/>
                </a:solidFill>
                <a:latin typeface="Arial"/>
              </a:rPr>
              <a:t>El Punto Ciego Crítico en la Adopción Empresarial de GenAI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94A3B8"/>
                </a:solidFill>
                <a:latin typeface="Arial"/>
              </a:rPr>
              <a:t>Las organizaciones despliegan modelos generativos, flujos agénticos, herramientas MCP y pipelines RAG sin verificación arquitectónica ni gobernanza ISO 42001.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938528"/>
            <a:ext cx="3547872" cy="2057400"/>
          </a:xfrm>
          <a:prstGeom prst="roundRect">
            <a:avLst>
              <a:gd name="adj" fmla="val 4000"/>
            </a:avLst>
          </a:prstGeom>
          <a:solidFill>
            <a:srgbClr val="34141E"/>
          </a:solidFill>
          <a:ln w="15875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28016" bIns="109728"/>
          <a:lstStyle/>
          <a:p>
            <a:pPr algn="ctr"/>
            <a:r>
              <a:rPr sz="1250" b="1">
                <a:solidFill>
                  <a:srgbClr val="F87171"/>
                </a:solidFill>
                <a:latin typeface="Arial"/>
              </a:rPr>
              <a:t>⚠ Brechas de Acceso y Despliegue sin Gobierno</a:t>
            </a:r>
          </a:p>
          <a:p>
            <a:pPr>
              <a:spcBef>
                <a:spcPts val="400"/>
              </a:spcBef>
            </a:pPr>
            <a:r>
              <a:rPr sz="980">
                <a:solidFill>
                  <a:srgbClr val="E2E8F0"/>
                </a:solidFill>
                <a:latin typeface="Arial"/>
              </a:rPr>
              <a:t>Según IBM Cost of a Data Breach 2025, el 13% de las organizaciones sufrió brechas en modelos o aplicaciones de IA, y el 97% de ellas carecía de controles de acceso adecuados o Evaluación de Impacto (ISO 42001 A.5.1).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15968" y="1938528"/>
            <a:ext cx="3547872" cy="2057400"/>
          </a:xfrm>
          <a:prstGeom prst="roundRect">
            <a:avLst>
              <a:gd name="adj" fmla="val 4000"/>
            </a:avLst>
          </a:prstGeom>
          <a:solidFill>
            <a:srgbClr val="34141E"/>
          </a:solidFill>
          <a:ln w="15875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28016" bIns="109728"/>
          <a:lstStyle/>
          <a:p>
            <a:pPr algn="ctr"/>
            <a:r>
              <a:rPr sz="1250" b="1">
                <a:solidFill>
                  <a:srgbClr val="F87171"/>
                </a:solidFill>
                <a:latin typeface="Arial"/>
              </a:rPr>
              <a:t>⚠ Superficie Multi-Turno y Agéntica</a:t>
            </a:r>
          </a:p>
          <a:p>
            <a:pPr>
              <a:spcBef>
                <a:spcPts val="400"/>
              </a:spcBef>
            </a:pPr>
            <a:r>
              <a:rPr sz="980">
                <a:solidFill>
                  <a:srgbClr val="E2E8F0"/>
                </a:solidFill>
                <a:latin typeface="Arial"/>
              </a:rPr>
              <a:t>Pipelines RAG, servidores MCP y agentes introducen vectores críticos: Inyección Multi-Turno Crescendo (C02.10), Envenenamiento Normativo/Vectorial (C01.4) y exfiltración SSRF/IMDS (C04.3).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92440" y="1938528"/>
            <a:ext cx="3547872" cy="2057400"/>
          </a:xfrm>
          <a:prstGeom prst="roundRect">
            <a:avLst>
              <a:gd name="adj" fmla="val 4000"/>
            </a:avLst>
          </a:prstGeom>
          <a:solidFill>
            <a:srgbClr val="34141E"/>
          </a:solidFill>
          <a:ln w="15875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28016" bIns="109728"/>
          <a:lstStyle/>
          <a:p>
            <a:pPr algn="ctr"/>
            <a:r>
              <a:rPr sz="1250" b="1">
                <a:solidFill>
                  <a:srgbClr val="F87171"/>
                </a:solidFill>
                <a:latin typeface="Arial"/>
              </a:rPr>
              <a:t>⚠ Silo entre CISO y Ciencia de Datos</a:t>
            </a:r>
          </a:p>
          <a:p>
            <a:pPr>
              <a:spcBef>
                <a:spcPts val="400"/>
              </a:spcBef>
            </a:pPr>
            <a:r>
              <a:rPr sz="980">
                <a:solidFill>
                  <a:srgbClr val="E2E8F0"/>
                </a:solidFill>
                <a:latin typeface="Arial"/>
              </a:rPr>
              <a:t>Los equipos de seguridad carecen de herramientas para auditar grafos de agentes, manifiestos MCP (C10.1) y ACLs vectoriales (C08.1) antes de pasar a producción.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4160520"/>
            <a:ext cx="5440680" cy="1965960"/>
          </a:xfrm>
          <a:prstGeom prst="roundRect">
            <a:avLst>
              <a:gd name="adj" fmla="val 4000"/>
            </a:avLst>
          </a:prstGeom>
          <a:solidFill>
            <a:srgbClr val="111827"/>
          </a:solidFill>
          <a:ln w="15875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28016" bIns="109728"/>
          <a:lstStyle/>
          <a:p>
            <a:pPr algn="ctr"/>
            <a:r>
              <a:rPr sz="1250" b="1">
                <a:solidFill>
                  <a:srgbClr val="FBBF24"/>
                </a:solidFill>
                <a:latin typeface="Arial"/>
              </a:rPr>
              <a:t>Brecha de Gobernanza Operativa (ISO/IEC 42001)</a:t>
            </a:r>
          </a:p>
          <a:p>
            <a:pPr>
              <a:spcBef>
                <a:spcPts val="400"/>
              </a:spcBef>
            </a:pPr>
            <a:r>
              <a:rPr sz="980">
                <a:solidFill>
                  <a:srgbClr val="E2E8F0"/>
                </a:solidFill>
                <a:latin typeface="Arial"/>
              </a:rPr>
              <a:t>Dificultad para operacionalizar los controles de ISO/IEC 42001:2023 —como Políticas Corporativas de IA (A.2.1), Canal Ético Confidencial (A.3.3), Inventario de Activos IA (A.4.1) y Apelación Humana (A.5.2)— en el ciclo de ingeniería.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99632" y="4160520"/>
            <a:ext cx="5440680" cy="1965960"/>
          </a:xfrm>
          <a:prstGeom prst="roundRect">
            <a:avLst>
              <a:gd name="adj" fmla="val 4000"/>
            </a:avLst>
          </a:prstGeom>
          <a:solidFill>
            <a:srgbClr val="111827"/>
          </a:solidFill>
          <a:ln w="15875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28016" bIns="109728"/>
          <a:lstStyle/>
          <a:p>
            <a:pPr algn="ctr"/>
            <a:r>
              <a:rPr sz="1250" b="1">
                <a:solidFill>
                  <a:srgbClr val="38BDF8"/>
                </a:solidFill>
                <a:latin typeface="Arial"/>
              </a:rPr>
              <a:t>Proliferación de 'Shadow AI' y Denial of Wallet</a:t>
            </a:r>
          </a:p>
          <a:p>
            <a:pPr>
              <a:spcBef>
                <a:spcPts val="400"/>
              </a:spcBef>
            </a:pPr>
            <a:r>
              <a:rPr sz="980">
                <a:solidFill>
                  <a:srgbClr val="E2E8F0"/>
                </a:solidFill>
                <a:latin typeface="Arial"/>
              </a:rPr>
              <a:t>Invocaciones externas sin cuotas, comparación insegura de tokens (C05.3), cuentas de servicio sobre-privilegiadas (C05.2), falta de presupuestos Anti-DoW (C11.1) y exposición de logprobs (C11.4).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82880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Arial"/>
              </a:rPr>
              <a:t>AEGIS</a:t>
            </a:r>
            <a:r>
              <a:rPr sz="1800" b="1">
                <a:solidFill>
                  <a:srgbClr val="60A5FA"/>
                </a:solidFill>
                <a:latin typeface="Arial"/>
              </a:rPr>
              <a:t>AI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691640" y="320040"/>
            <a:ext cx="3108960" cy="292608"/>
          </a:xfrm>
          <a:prstGeom prst="roundRect">
            <a:avLst/>
          </a:prstGeom>
          <a:solidFill>
            <a:srgbClr val="122142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18288" bIns="18288"/>
          <a:lstStyle/>
          <a:p>
            <a:pPr algn="ctr"/>
            <a:r>
              <a:rPr sz="850" b="1">
                <a:solidFill>
                  <a:srgbClr val="60A5FA"/>
                </a:solidFill>
                <a:latin typeface="Arial"/>
              </a:rPr>
              <a:t>ANÁLISIS DE CONSECUENCIAS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310896"/>
            <a:ext cx="112471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>
                <a:solidFill>
                  <a:srgbClr val="94A3B8"/>
                </a:solidFill>
                <a:latin typeface="Courier New"/>
              </a:rPr>
              <a:t>03 / 16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94944"/>
            <a:ext cx="11094415" cy="13716"/>
          </a:xfrm>
          <a:prstGeom prst="rect">
            <a:avLst/>
          </a:prstGeom>
          <a:solidFill>
            <a:srgbClr val="2D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6327648"/>
            <a:ext cx="11094415" cy="13716"/>
          </a:xfrm>
          <a:prstGeom prst="rect">
            <a:avLst/>
          </a:prstGeom>
          <a:solidFill>
            <a:srgbClr val="2D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382512"/>
            <a:ext cx="54864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94A3B8"/>
                </a:solidFill>
                <a:latin typeface="Arial"/>
              </a:rPr>
              <a:t>AegisAI Enterprise • Análisis de Impacto y Continuidad de Negocio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35040" y="6382512"/>
            <a:ext cx="5608015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94A3B8"/>
                </a:solidFill>
                <a:latin typeface="Arial"/>
              </a:rPr>
              <a:t>Criterios alineados con ISO/IEC 42001:2023 Cláusula 6 y Anexo A.5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786384"/>
            <a:ext cx="11094415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50" b="1">
                <a:solidFill>
                  <a:srgbClr val="38BDF8"/>
                </a:solidFill>
                <a:latin typeface="Arial"/>
              </a:rPr>
              <a:t>IMPACTO DE LA INACCIÓN</a:t>
            </a:r>
          </a:p>
          <a:p>
            <a:pPr>
              <a:spcBef>
                <a:spcPts val="200"/>
              </a:spcBef>
            </a:pPr>
            <a:r>
              <a:rPr sz="2200" b="1">
                <a:solidFill>
                  <a:srgbClr val="FFFFFF"/>
                </a:solidFill>
                <a:latin typeface="Arial"/>
              </a:rPr>
              <a:t>El Costo Real de Omitir la Auditoría Preventiva de IA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94A3B8"/>
                </a:solidFill>
                <a:latin typeface="Arial"/>
              </a:rPr>
              <a:t>Operar sistemas de IA sin verificación expone a la organización a sanciones financieras, legales y operativas severas.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901952"/>
            <a:ext cx="2606040" cy="1325880"/>
          </a:xfrm>
          <a:prstGeom prst="roundRect">
            <a:avLst>
              <a:gd name="adj" fmla="val 6000"/>
            </a:avLst>
          </a:prstGeom>
          <a:solidFill>
            <a:srgbClr val="111827"/>
          </a:solidFill>
          <a:ln w="15875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  <a:r>
              <a:rPr sz="2400" b="1">
                <a:solidFill>
                  <a:srgbClr val="F87171"/>
                </a:solidFill>
                <a:latin typeface="Arial"/>
              </a:rPr>
              <a:t>€35M</a:t>
            </a:r>
          </a:p>
          <a:p>
            <a:pPr algn="ctr">
              <a:spcBef>
                <a:spcPts val="300"/>
              </a:spcBef>
            </a:pPr>
            <a:r>
              <a:rPr sz="900">
                <a:solidFill>
                  <a:srgbClr val="94A3B8"/>
                </a:solidFill>
                <a:latin typeface="Arial"/>
              </a:rPr>
              <a:t>o 7% de facturación global anual en multas de EU AI Act Art. 99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74136" y="1901952"/>
            <a:ext cx="2606040" cy="1325880"/>
          </a:xfrm>
          <a:prstGeom prst="roundRect">
            <a:avLst>
              <a:gd name="adj" fmla="val 6000"/>
            </a:avLst>
          </a:prstGeom>
          <a:solidFill>
            <a:srgbClr val="111827"/>
          </a:solidFill>
          <a:ln w="15875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  <a:r>
              <a:rPr sz="2400" b="1">
                <a:solidFill>
                  <a:srgbClr val="FBBF24"/>
                </a:solidFill>
                <a:latin typeface="Arial"/>
              </a:rPr>
              <a:t>97%</a:t>
            </a:r>
          </a:p>
          <a:p>
            <a:pPr algn="ctr">
              <a:spcBef>
                <a:spcPts val="300"/>
              </a:spcBef>
            </a:pPr>
            <a:r>
              <a:rPr sz="900">
                <a:solidFill>
                  <a:srgbClr val="94A3B8"/>
                </a:solidFill>
                <a:latin typeface="Arial"/>
              </a:rPr>
              <a:t>de las apps de IA vulneradas carecían de control de acceso (IBM 2025)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99632" y="1901952"/>
            <a:ext cx="2606040" cy="1325880"/>
          </a:xfrm>
          <a:prstGeom prst="roundRect">
            <a:avLst>
              <a:gd name="adj" fmla="val 6000"/>
            </a:avLst>
          </a:prstGeom>
          <a:solidFill>
            <a:srgbClr val="111827"/>
          </a:solidFill>
          <a:ln w="15875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  <a:r>
              <a:rPr sz="2400" b="1">
                <a:solidFill>
                  <a:srgbClr val="38BDF8"/>
                </a:solidFill>
                <a:latin typeface="Arial"/>
              </a:rPr>
              <a:t>10 / 10</a:t>
            </a:r>
          </a:p>
          <a:p>
            <a:pPr algn="ctr">
              <a:spcBef>
                <a:spcPts val="300"/>
              </a:spcBef>
            </a:pPr>
            <a:r>
              <a:rPr sz="900">
                <a:solidFill>
                  <a:srgbClr val="94A3B8"/>
                </a:solidFill>
                <a:latin typeface="Arial"/>
              </a:rPr>
              <a:t>Chequeos automatizados de OWASP LLM Top-10 por auditoría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034272" y="1901952"/>
            <a:ext cx="2606040" cy="1325880"/>
          </a:xfrm>
          <a:prstGeom prst="roundRect">
            <a:avLst>
              <a:gd name="adj" fmla="val 6000"/>
            </a:avLst>
          </a:prstGeom>
          <a:solidFill>
            <a:srgbClr val="111827"/>
          </a:solidFill>
          <a:ln w="15875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  <a:r>
              <a:rPr sz="2400" b="1">
                <a:solidFill>
                  <a:srgbClr val="34D399"/>
                </a:solidFill>
                <a:latin typeface="Arial"/>
              </a:rPr>
              <a:t>148</a:t>
            </a:r>
          </a:p>
          <a:p>
            <a:pPr algn="ctr">
              <a:spcBef>
                <a:spcPts val="300"/>
              </a:spcBef>
            </a:pPr>
            <a:r>
              <a:rPr sz="900">
                <a:solidFill>
                  <a:srgbClr val="94A3B8"/>
                </a:solidFill>
                <a:latin typeface="Arial"/>
              </a:rPr>
              <a:t>Controles integrados (AISVS 56, ISO 54, EU 10, LFPDPPP/LFPC 28)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429000"/>
            <a:ext cx="3547872" cy="2697480"/>
          </a:xfrm>
          <a:prstGeom prst="roundRect">
            <a:avLst>
              <a:gd name="adj" fmla="val 4000"/>
            </a:avLst>
          </a:prstGeom>
          <a:solidFill>
            <a:srgbClr val="111827"/>
          </a:solidFill>
          <a:ln w="15875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28016" bIns="109728"/>
          <a:lstStyle/>
          <a:p>
            <a:pPr algn="ctr"/>
            <a:r>
              <a:rPr sz="1250" b="1">
                <a:solidFill>
                  <a:srgbClr val="F87171"/>
                </a:solidFill>
                <a:latin typeface="Arial"/>
              </a:rPr>
              <a:t>Exfiltración de Secretos, IMDS y PII</a:t>
            </a:r>
          </a:p>
          <a:p>
            <a:pPr>
              <a:spcBef>
                <a:spcPts val="400"/>
              </a:spcBef>
            </a:pPr>
            <a:r>
              <a:rPr sz="980">
                <a:solidFill>
                  <a:srgbClr val="E2E8F0"/>
                </a:solidFill>
                <a:latin typeface="Arial"/>
              </a:rPr>
              <a:t>Ataques multi-turno crescendo y SSRF diseñados para extraer metadatos cloud (169.254.169.254), llaves API o registros entre inquilinos cuando faltan ACLs pre-recuperación (C08.1).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15968" y="3429000"/>
            <a:ext cx="3547872" cy="2697480"/>
          </a:xfrm>
          <a:prstGeom prst="roundRect">
            <a:avLst>
              <a:gd name="adj" fmla="val 4000"/>
            </a:avLst>
          </a:prstGeom>
          <a:solidFill>
            <a:srgbClr val="111827"/>
          </a:solidFill>
          <a:ln w="15875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28016" bIns="109728"/>
          <a:lstStyle/>
          <a:p>
            <a:pPr algn="ctr"/>
            <a:r>
              <a:rPr sz="1250" b="1">
                <a:solidFill>
                  <a:srgbClr val="FBBF24"/>
                </a:solidFill>
                <a:latin typeface="Arial"/>
              </a:rPr>
              <a:t>Sanciones Regulatorias y Suspensión</a:t>
            </a:r>
          </a:p>
          <a:p>
            <a:pPr>
              <a:spcBef>
                <a:spcPts val="400"/>
              </a:spcBef>
            </a:pPr>
            <a:r>
              <a:rPr sz="980">
                <a:solidFill>
                  <a:srgbClr val="E2E8F0"/>
                </a:solidFill>
                <a:latin typeface="Arial"/>
              </a:rPr>
              <a:t>Incumplimiento de controles AIMS ISO/IEC 42001, purga en cascada ARCO (LFPDPPP/GDPR) o retracto comercial del Art. 56 LFPC provoca suspensiones y litigios.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92440" y="3429000"/>
            <a:ext cx="3547872" cy="2697480"/>
          </a:xfrm>
          <a:prstGeom prst="roundRect">
            <a:avLst>
              <a:gd name="adj" fmla="val 4000"/>
            </a:avLst>
          </a:prstGeom>
          <a:solidFill>
            <a:srgbClr val="111827"/>
          </a:solidFill>
          <a:ln w="15875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28016" bIns="109728"/>
          <a:lstStyle/>
          <a:p>
            <a:pPr algn="ctr"/>
            <a:r>
              <a:rPr sz="1250" b="1">
                <a:solidFill>
                  <a:srgbClr val="D8B4FE"/>
                </a:solidFill>
                <a:latin typeface="Arial"/>
              </a:rPr>
              <a:t>Decisiones Algorítmicas Inapelables</a:t>
            </a:r>
          </a:p>
          <a:p>
            <a:pPr>
              <a:spcBef>
                <a:spcPts val="400"/>
              </a:spcBef>
            </a:pPr>
            <a:r>
              <a:rPr sz="980">
                <a:solidFill>
                  <a:srgbClr val="E2E8F0"/>
                </a:solidFill>
                <a:latin typeface="Arial"/>
              </a:rPr>
              <a:t>Dictámenes alucinados o decisiones automatizadas sesgadas sin canal de apelación humana (ISO 42001 A.5.2) ni canal ético (A.3.3) erosionan la confianza institucional.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82880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Arial"/>
              </a:rPr>
              <a:t>AEGIS</a:t>
            </a:r>
            <a:r>
              <a:rPr sz="1800" b="1">
                <a:solidFill>
                  <a:srgbClr val="60A5FA"/>
                </a:solidFill>
                <a:latin typeface="Arial"/>
              </a:rPr>
              <a:t>AI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691640" y="320040"/>
            <a:ext cx="3108960" cy="292608"/>
          </a:xfrm>
          <a:prstGeom prst="roundRect">
            <a:avLst/>
          </a:prstGeom>
          <a:solidFill>
            <a:srgbClr val="122142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18288" bIns="18288"/>
          <a:lstStyle/>
          <a:p>
            <a:pPr algn="ctr"/>
            <a:r>
              <a:rPr sz="850" b="1">
                <a:solidFill>
                  <a:srgbClr val="60A5FA"/>
                </a:solidFill>
                <a:latin typeface="Arial"/>
              </a:rPr>
              <a:t>PROPUESTA DE VALOR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310896"/>
            <a:ext cx="112471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>
                <a:solidFill>
                  <a:srgbClr val="94A3B8"/>
                </a:solidFill>
                <a:latin typeface="Courier New"/>
              </a:rPr>
              <a:t>04 / 16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94944"/>
            <a:ext cx="11094415" cy="13716"/>
          </a:xfrm>
          <a:prstGeom prst="rect">
            <a:avLst/>
          </a:prstGeom>
          <a:solidFill>
            <a:srgbClr val="2D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6327648"/>
            <a:ext cx="11094415" cy="13716"/>
          </a:xfrm>
          <a:prstGeom prst="rect">
            <a:avLst/>
          </a:prstGeom>
          <a:solidFill>
            <a:srgbClr val="2D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382512"/>
            <a:ext cx="54864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94A3B8"/>
                </a:solidFill>
                <a:latin typeface="Arial"/>
              </a:rPr>
              <a:t>AegisAI Enterprise • Propuesta de Valor y Capacidades Clave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35040" y="6382512"/>
            <a:ext cx="5608015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94A3B8"/>
                </a:solidFill>
                <a:latin typeface="Arial"/>
              </a:rPr>
              <a:t>Impulsado por Google Cloud Vertex AI (Gemini 3.8 Flash)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786384"/>
            <a:ext cx="11094415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50" b="1">
                <a:solidFill>
                  <a:srgbClr val="38BDF8"/>
                </a:solidFill>
                <a:latin typeface="Arial"/>
              </a:rPr>
              <a:t>NUESTRA SOLUCIÓN</a:t>
            </a:r>
          </a:p>
          <a:p>
            <a:pPr>
              <a:spcBef>
                <a:spcPts val="200"/>
              </a:spcBef>
            </a:pPr>
            <a:r>
              <a:rPr sz="2200" b="1">
                <a:solidFill>
                  <a:srgbClr val="FFFFFF"/>
                </a:solidFill>
                <a:latin typeface="Arial"/>
              </a:rPr>
              <a:t>AegisAI: Aseguramiento Integral y Automatizado de IA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94A3B8"/>
                </a:solidFill>
                <a:latin typeface="Arial"/>
              </a:rPr>
              <a:t>Transformando semanas de auditoría manual en verificación determinística respaldada por evidencia textual y código de remediación.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938528"/>
            <a:ext cx="5440680" cy="2423160"/>
          </a:xfrm>
          <a:prstGeom prst="roundRect">
            <a:avLst>
              <a:gd name="adj" fmla="val 4000"/>
            </a:avLst>
          </a:prstGeom>
          <a:solidFill>
            <a:srgbClr val="122142"/>
          </a:solidFill>
          <a:ln w="15875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28016" bIns="109728"/>
          <a:lstStyle/>
          <a:p>
            <a:pPr algn="ctr"/>
            <a:r>
              <a:rPr sz="1250" b="1">
                <a:solidFill>
                  <a:srgbClr val="60A5FA"/>
                </a:solidFill>
                <a:latin typeface="Arial"/>
              </a:rPr>
              <a:t>🛡 Verificación Multi-Estándar Shift-Left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E2E8F0"/>
                </a:solidFill>
                <a:latin typeface="Arial"/>
              </a:rPr>
              <a:t>• Inspecciona documentos de arquitectura, PDFs, paquetes ZIP, microservicios y telemetría GCP en vivo contra OWASP AI-SVS v1.0 e ISO/IEC 42001:2023 simultáneamente.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E2E8F0"/>
                </a:solidFill>
                <a:latin typeface="Arial"/>
              </a:rPr>
              <a:t>• Evaluación Map-Reduce determinística con esquemas enum estrictos por lote (buildBatchChaptersSchema).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E2E8F0"/>
                </a:solidFill>
                <a:latin typeface="Arial"/>
              </a:rPr>
              <a:t>• Citación textual obligatoria (textoEvidencia y fuenteEvidencia).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E2E8F0"/>
                </a:solidFill>
                <a:latin typeface="Arial"/>
              </a:rPr>
              <a:t>• Enmascaramiento DLP pre-inferencia y bloqueo de inyección multi-turno crescendo (C02.10).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9632" y="1938528"/>
            <a:ext cx="5440680" cy="2423160"/>
          </a:xfrm>
          <a:prstGeom prst="roundRect">
            <a:avLst>
              <a:gd name="adj" fmla="val 4000"/>
            </a:avLst>
          </a:prstGeom>
          <a:solidFill>
            <a:srgbClr val="0B2E2B"/>
          </a:solidFill>
          <a:ln w="15875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28016" bIns="109728"/>
          <a:lstStyle/>
          <a:p>
            <a:pPr algn="ctr"/>
            <a:r>
              <a:rPr sz="1250" b="1">
                <a:solidFill>
                  <a:srgbClr val="34D399"/>
                </a:solidFill>
                <a:latin typeface="Arial"/>
              </a:rPr>
              <a:t>⚡ Arquitectura Remediada al 100% y Recetario Completo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E2E8F0"/>
                </a:solidFill>
                <a:latin typeface="Arial"/>
              </a:rPr>
              <a:t>• Sintetiza una Especificación de Arquitectura Corregida Drop-in (Sección 3) más un Recetario Técnico Completo (Sección 4) para cada hallazgo.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E2E8F0"/>
                </a:solidFill>
                <a:latin typeface="Arial"/>
              </a:rPr>
              <a:t>• Incluye la totalidad de los hallazgos 1..N sin truncamiento.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E2E8F0"/>
                </a:solidFill>
                <a:latin typeface="Arial"/>
              </a:rPr>
              <a:t>• Corte inteligente por oración completa (truncateAtSentenceBoundary).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E2E8F0"/>
                </a:solidFill>
                <a:latin typeface="Arial"/>
              </a:rPr>
              <a:t>• Detección precisa de lenguaje para bloques typescript, hcl (Terraform), yaml, python y bash.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526280"/>
            <a:ext cx="3547872" cy="1627632"/>
          </a:xfrm>
          <a:prstGeom prst="roundRect">
            <a:avLst>
              <a:gd name="adj" fmla="val 4000"/>
            </a:avLst>
          </a:prstGeom>
          <a:solidFill>
            <a:srgbClr val="111827"/>
          </a:solidFill>
          <a:ln w="15875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28016" bIns="109728"/>
          <a:lstStyle/>
          <a:p>
            <a:pPr algn="ctr"/>
            <a:r>
              <a:rPr sz="1250" b="1">
                <a:solidFill>
                  <a:srgbClr val="38BDF8"/>
                </a:solidFill>
                <a:latin typeface="Arial"/>
              </a:rPr>
              <a:t>Escáner GCP sin Llaves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E2E8F0"/>
                </a:solidFill>
                <a:latin typeface="Arial"/>
              </a:rPr>
              <a:t>• Inspecciona Vertex AI, Cloud Run, Secret Manager e IAM con tokens efímeros de solo lectura (C05.2).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15968" y="4526280"/>
            <a:ext cx="3547872" cy="1627632"/>
          </a:xfrm>
          <a:prstGeom prst="roundRect">
            <a:avLst>
              <a:gd name="adj" fmla="val 4000"/>
            </a:avLst>
          </a:prstGeom>
          <a:solidFill>
            <a:srgbClr val="111827"/>
          </a:solidFill>
          <a:ln w="15875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28016" bIns="109728"/>
          <a:lstStyle/>
          <a:p>
            <a:pPr algn="ctr"/>
            <a:r>
              <a:rPr sz="1250" b="1">
                <a:solidFill>
                  <a:srgbClr val="D8B4FE"/>
                </a:solidFill>
                <a:latin typeface="Arial"/>
              </a:rPr>
              <a:t>Integridad Normativa SHA-256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E2E8F0"/>
                </a:solidFill>
                <a:latin typeface="Arial"/>
              </a:rPr>
              <a:t>• Verificación al arranque contra integrity-manifest.json (C01.4) + BYOF aislado por inquilino (C08.1).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92440" y="4526280"/>
            <a:ext cx="3547872" cy="1627632"/>
          </a:xfrm>
          <a:prstGeom prst="roundRect">
            <a:avLst>
              <a:gd name="adj" fmla="val 4000"/>
            </a:avLst>
          </a:prstGeom>
          <a:solidFill>
            <a:srgbClr val="111827"/>
          </a:solidFill>
          <a:ln w="15875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28016" bIns="109728"/>
          <a:lstStyle/>
          <a:p>
            <a:pPr algn="ctr"/>
            <a:r>
              <a:rPr sz="1250" b="1">
                <a:solidFill>
                  <a:srgbClr val="FBBF24"/>
                </a:solidFill>
                <a:latin typeface="Arial"/>
              </a:rPr>
              <a:t>Telemetría Continua AIMS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E2E8F0"/>
                </a:solidFill>
                <a:latin typeface="Arial"/>
              </a:rPr>
              <a:t>• Mide cobertura de citación, fidelidad JSON, latencia y apelaciones humanas (C08.4 / Cláusula 9.1).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82880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Arial"/>
              </a:rPr>
              <a:t>AEGIS</a:t>
            </a:r>
            <a:r>
              <a:rPr sz="1800" b="1">
                <a:solidFill>
                  <a:srgbClr val="60A5FA"/>
                </a:solidFill>
                <a:latin typeface="Arial"/>
              </a:rPr>
              <a:t>AI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691640" y="320040"/>
            <a:ext cx="3108960" cy="292608"/>
          </a:xfrm>
          <a:prstGeom prst="roundRect">
            <a:avLst/>
          </a:prstGeom>
          <a:solidFill>
            <a:srgbClr val="122142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18288" bIns="18288"/>
          <a:lstStyle/>
          <a:p>
            <a:pPr algn="ctr"/>
            <a:r>
              <a:rPr sz="850" b="1">
                <a:solidFill>
                  <a:srgbClr val="60A5FA"/>
                </a:solidFill>
                <a:latin typeface="Arial"/>
              </a:rPr>
              <a:t>EVOLUCIÓN DEL PRODUCTO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310896"/>
            <a:ext cx="112471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>
                <a:solidFill>
                  <a:srgbClr val="94A3B8"/>
                </a:solidFill>
                <a:latin typeface="Courier New"/>
              </a:rPr>
              <a:t>05 / 16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94944"/>
            <a:ext cx="11094415" cy="13716"/>
          </a:xfrm>
          <a:prstGeom prst="rect">
            <a:avLst/>
          </a:prstGeom>
          <a:solidFill>
            <a:srgbClr val="2D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6327648"/>
            <a:ext cx="11094415" cy="13716"/>
          </a:xfrm>
          <a:prstGeom prst="rect">
            <a:avLst/>
          </a:prstGeom>
          <a:solidFill>
            <a:srgbClr val="2D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382512"/>
            <a:ext cx="54864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94A3B8"/>
                </a:solidFill>
                <a:latin typeface="Arial"/>
              </a:rPr>
              <a:t>AegisAI Enterprise • Evolución del Producto en 4 Etapas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35040" y="6382512"/>
            <a:ext cx="5608015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94A3B8"/>
                </a:solidFill>
                <a:latin typeface="Arial"/>
              </a:rPr>
              <a:t>AI Studio (3.8–3.6 Flash) ➔ Antigravity (3.8 Flash) ➔ Auto-Auditoría ➔ Release Candidate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786384"/>
            <a:ext cx="11094415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50" b="1">
                <a:solidFill>
                  <a:srgbClr val="38BDF8"/>
                </a:solidFill>
                <a:latin typeface="Arial"/>
              </a:rPr>
              <a:t>CICLO DE VIDA DE INGENIERÍA DE EXTREMO A EXTREMO</a:t>
            </a:r>
          </a:p>
          <a:p>
            <a:pPr>
              <a:spcBef>
                <a:spcPts val="200"/>
              </a:spcBef>
            </a:pPr>
            <a:r>
              <a:rPr sz="2200" b="1">
                <a:solidFill>
                  <a:srgbClr val="FFFFFF"/>
                </a:solidFill>
                <a:latin typeface="Arial"/>
              </a:rPr>
              <a:t>Cómo Construimos, Auto-Auditamos y Validamos AegisAI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94A3B8"/>
                </a:solidFill>
                <a:latin typeface="Arial"/>
              </a:rPr>
              <a:t>Un recorrido de ingeniería agéntica en cuatro etapas desde la prueba de concepto hasta el Release Candidate empresarial.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938528"/>
            <a:ext cx="5440680" cy="2057400"/>
          </a:xfrm>
          <a:prstGeom prst="roundRect">
            <a:avLst>
              <a:gd name="adj" fmla="val 4000"/>
            </a:avLst>
          </a:prstGeom>
          <a:solidFill>
            <a:srgbClr val="122142"/>
          </a:solidFill>
          <a:ln w="15875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28016" bIns="109728"/>
          <a:lstStyle/>
          <a:p>
            <a:pPr algn="ctr"/>
            <a:r>
              <a:rPr sz="800" b="1">
                <a:solidFill>
                  <a:srgbClr val="38BDF8"/>
                </a:solidFill>
                <a:latin typeface="Arial"/>
              </a:rPr>
              <a:t>FASE 1 • PRUEBA DE CONCEPTO (POC)</a:t>
            </a:r>
          </a:p>
          <a:p>
            <a:pPr>
              <a:spcBef>
                <a:spcPts val="300"/>
              </a:spcBef>
            </a:pPr>
            <a:r>
              <a:rPr sz="1250" b="1">
                <a:solidFill>
                  <a:srgbClr val="38BDF8"/>
                </a:solidFill>
                <a:latin typeface="Arial"/>
              </a:rPr>
              <a:t>1. Prototipado en Google AI Studio (Gemini 3.8 a 3.6 Flash)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E2E8F0"/>
                </a:solidFill>
                <a:latin typeface="Arial"/>
              </a:rPr>
              <a:t>• Construcción de la Prueba de Concepto inicial en Google AI Studio utilizando Gemini 3.8 Flash con conmutación a Gemini 3.6 Flash.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E2E8F0"/>
                </a:solidFill>
                <a:latin typeface="Arial"/>
              </a:rPr>
              <a:t>• Validación de generación bajo JSON Schema estricto, razonamiento normativo multi-capítulo e interfaz inicial en React.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E2E8F0"/>
                </a:solidFill>
                <a:latin typeface="Arial"/>
              </a:rPr>
              <a:t>• Demostró que los modelos Flash con temperatura 0.0 evalúan controles complejos de seguridad con precisión determinística.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9632" y="1938528"/>
            <a:ext cx="5440680" cy="2057400"/>
          </a:xfrm>
          <a:prstGeom prst="roundRect">
            <a:avLst>
              <a:gd name="adj" fmla="val 4000"/>
            </a:avLst>
          </a:prstGeom>
          <a:solidFill>
            <a:srgbClr val="122142"/>
          </a:solidFill>
          <a:ln w="15875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28016" bIns="109728"/>
          <a:lstStyle/>
          <a:p>
            <a:pPr algn="ctr"/>
            <a:r>
              <a:rPr sz="800" b="1">
                <a:solidFill>
                  <a:srgbClr val="60A5FA"/>
                </a:solidFill>
                <a:latin typeface="Arial"/>
              </a:rPr>
              <a:t>FASE 2 • INGENIERÍA FULL-STACK</a:t>
            </a:r>
          </a:p>
          <a:p>
            <a:pPr>
              <a:spcBef>
                <a:spcPts val="300"/>
              </a:spcBef>
            </a:pPr>
            <a:r>
              <a:rPr sz="1250" b="1">
                <a:solidFill>
                  <a:srgbClr val="60A5FA"/>
                </a:solidFill>
                <a:latin typeface="Arial"/>
              </a:rPr>
              <a:t>2. Migración a Google Antigravity (Desarrollado con 3.8 Flash)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E2E8F0"/>
                </a:solidFill>
                <a:latin typeface="Arial"/>
              </a:rPr>
              <a:t>• Migración del código base a Google Antigravity (AGY) operando con Gemini 3.8 Flash.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E2E8F0"/>
                </a:solidFill>
                <a:latin typeface="Arial"/>
              </a:rPr>
              <a:t>• Ejecución de más de 171 prompts de ingeniería en 7 fases para construir el backend Express/TypeScript, el motor Map-Reduce, el GCP Live Scanner, Firestore y los 16 manuales PDF bilingües.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E2E8F0"/>
                </a:solidFill>
                <a:latin typeface="Arial"/>
              </a:rPr>
              <a:t>• Desplegado en Google Cloud Run detrás de Identity-Aware Proxy (IAP).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133087"/>
            <a:ext cx="5440680" cy="2057400"/>
          </a:xfrm>
          <a:prstGeom prst="roundRect">
            <a:avLst>
              <a:gd name="adj" fmla="val 4000"/>
            </a:avLst>
          </a:prstGeom>
          <a:solidFill>
            <a:srgbClr val="0B2E2B"/>
          </a:solidFill>
          <a:ln w="15875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28016" bIns="109728"/>
          <a:lstStyle/>
          <a:p>
            <a:pPr algn="ctr"/>
            <a:r>
              <a:rPr sz="800" b="1">
                <a:solidFill>
                  <a:srgbClr val="34D399"/>
                </a:solidFill>
                <a:latin typeface="Arial"/>
              </a:rPr>
              <a:t>FASE 3 • DOGFOODING Y ENDURECIMIENTO</a:t>
            </a:r>
          </a:p>
          <a:p>
            <a:pPr>
              <a:spcBef>
                <a:spcPts val="300"/>
              </a:spcBef>
            </a:pPr>
            <a:r>
              <a:rPr sz="1250" b="1">
                <a:solidFill>
                  <a:srgbClr val="34D399"/>
                </a:solidFill>
                <a:latin typeface="Arial"/>
              </a:rPr>
              <a:t>3. Auto-Auditoría de Código y Manuales contra AegisAI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E2E8F0"/>
                </a:solidFill>
                <a:latin typeface="Arial"/>
              </a:rPr>
              <a:t>• Con el prototipo en Cloud Run, cargamos el propio código y paquete de 10 PDFs de AegisAI (Originaldocs.zip) dentro de la plataforma para auditarla contra OWASP AI-SVS v1.0 e ISO/IEC 42001:2023.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E2E8F0"/>
                </a:solidFill>
                <a:latin typeface="Arial"/>
              </a:rPr>
              <a:t>• La auto-auditoría base (MULTI-2026-0437) obtuvo 68.9% y detectó 35 brechas (6 Fallidos, 29 Falta Evidencia).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E2E8F0"/>
                </a:solidFill>
                <a:latin typeface="Arial"/>
              </a:rPr>
              <a:t>• Remediamos manuales y aplicación, alcanzando 97.8% en re-auditoría (MULTI-2026-8983, 100% ISO 42001, 0 fallos).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99632" y="4133087"/>
            <a:ext cx="5440680" cy="2057400"/>
          </a:xfrm>
          <a:prstGeom prst="roundRect">
            <a:avLst>
              <a:gd name="adj" fmla="val 4000"/>
            </a:avLst>
          </a:prstGeom>
          <a:solidFill>
            <a:srgbClr val="261840"/>
          </a:solidFill>
          <a:ln w="15875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28016" bIns="109728"/>
          <a:lstStyle/>
          <a:p>
            <a:pPr algn="ctr"/>
            <a:r>
              <a:rPr sz="800" b="1">
                <a:solidFill>
                  <a:srgbClr val="D8B4FE"/>
                </a:solidFill>
                <a:latin typeface="Arial"/>
              </a:rPr>
              <a:t>FASE 4 • VALIDACIÓN EMPRESARIAL</a:t>
            </a:r>
          </a:p>
          <a:p>
            <a:pPr>
              <a:spcBef>
                <a:spcPts val="300"/>
              </a:spcBef>
            </a:pPr>
            <a:r>
              <a:rPr sz="1250" b="1">
                <a:solidFill>
                  <a:srgbClr val="D8B4FE"/>
                </a:solidFill>
                <a:latin typeface="Arial"/>
              </a:rPr>
              <a:t>4. Release Candidate (RC) Presentado a Líderes en México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E2E8F0"/>
                </a:solidFill>
                <a:latin typeface="Arial"/>
              </a:rPr>
              <a:t>• Presentación del Release Candidate (RC) endurecido ante tres organizaciones líderes: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E2E8F0"/>
                </a:solidFill>
                <a:latin typeface="Arial"/>
              </a:rPr>
              <a:t>   1. Farmacias del Ahorro (Salud y Retail Farmacéutico)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E2E8F0"/>
                </a:solidFill>
                <a:latin typeface="Arial"/>
              </a:rPr>
              <a:t>   2. Asociación Mexicana de Franquicias — AMF (Ecosistema de Franquicias)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E2E8F0"/>
                </a:solidFill>
                <a:latin typeface="Arial"/>
              </a:rPr>
              <a:t>   3. Grupo Coppel (Servicios Financieros y Retail Omnicanal)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E2E8F0"/>
                </a:solidFill>
                <a:latin typeface="Arial"/>
              </a:rPr>
              <a:t>• Validación simultánea de OWASP AI-SVS, ISO 42001, LFPC y LFPDPPP.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82880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Arial"/>
              </a:rPr>
              <a:t>AEGIS</a:t>
            </a:r>
            <a:r>
              <a:rPr sz="1800" b="1">
                <a:solidFill>
                  <a:srgbClr val="60A5FA"/>
                </a:solidFill>
                <a:latin typeface="Arial"/>
              </a:rPr>
              <a:t>AI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691640" y="320040"/>
            <a:ext cx="3108960" cy="292608"/>
          </a:xfrm>
          <a:prstGeom prst="roundRect">
            <a:avLst/>
          </a:prstGeom>
          <a:solidFill>
            <a:srgbClr val="122142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18288" bIns="18288"/>
          <a:lstStyle/>
          <a:p>
            <a:pPr algn="ctr"/>
            <a:r>
              <a:rPr sz="850" b="1">
                <a:solidFill>
                  <a:srgbClr val="60A5FA"/>
                </a:solidFill>
                <a:latin typeface="Arial"/>
              </a:rPr>
              <a:t>CASO DE AUTO-AUDITORÍA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310896"/>
            <a:ext cx="112471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>
                <a:solidFill>
                  <a:srgbClr val="94A3B8"/>
                </a:solidFill>
                <a:latin typeface="Courier New"/>
              </a:rPr>
              <a:t>06 / 16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94944"/>
            <a:ext cx="11094415" cy="13716"/>
          </a:xfrm>
          <a:prstGeom prst="rect">
            <a:avLst/>
          </a:prstGeom>
          <a:solidFill>
            <a:srgbClr val="2D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6327648"/>
            <a:ext cx="11094415" cy="13716"/>
          </a:xfrm>
          <a:prstGeom prst="rect">
            <a:avLst/>
          </a:prstGeom>
          <a:solidFill>
            <a:srgbClr val="2D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382512"/>
            <a:ext cx="54864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94A3B8"/>
                </a:solidFill>
                <a:latin typeface="Arial"/>
              </a:rPr>
              <a:t>AegisAI Enterprise • Verificación en Bucle Cerrado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35040" y="6382512"/>
            <a:ext cx="5608015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94A3B8"/>
                </a:solidFill>
                <a:latin typeface="Arial"/>
              </a:rPr>
              <a:t>IDs en Firestore: MULTI-2026-0437 (Base 68.9%) ➔ MULTI-2026-8983 (Remediado 97.8%)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786384"/>
            <a:ext cx="11094415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50" b="1">
                <a:solidFill>
                  <a:srgbClr val="38BDF8"/>
                </a:solidFill>
                <a:latin typeface="Arial"/>
              </a:rPr>
              <a:t>VERIFICACIÓN EN BUCLE CERRADO ('DOGFOODING')</a:t>
            </a:r>
          </a:p>
          <a:p>
            <a:pPr>
              <a:spcBef>
                <a:spcPts val="200"/>
              </a:spcBef>
            </a:pPr>
            <a:r>
              <a:rPr sz="2200" b="1">
                <a:solidFill>
                  <a:srgbClr val="FFFFFF"/>
                </a:solidFill>
                <a:latin typeface="Arial"/>
              </a:rPr>
              <a:t>Auditando el Código y Manuales de AegisAI con AegisAI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94A3B8"/>
                </a:solidFill>
                <a:latin typeface="Arial"/>
              </a:rPr>
              <a:t>Cómo AegisAI diagnosticó 35 brechas de OWASP AI-SVS e ISO 42001 en su propio prototipo y guió su remediación hasta 97.8%.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938528"/>
            <a:ext cx="3547872" cy="3246120"/>
          </a:xfrm>
          <a:prstGeom prst="roundRect">
            <a:avLst>
              <a:gd name="adj" fmla="val 4000"/>
            </a:avLst>
          </a:prstGeom>
          <a:solidFill>
            <a:srgbClr val="34141E"/>
          </a:solidFill>
          <a:ln w="15875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28016" bIns="109728"/>
          <a:lstStyle/>
          <a:p>
            <a:pPr algn="ctr"/>
            <a:r>
              <a:rPr sz="800" b="1">
                <a:solidFill>
                  <a:srgbClr val="F87171"/>
                </a:solidFill>
                <a:latin typeface="Arial"/>
              </a:rPr>
              <a:t>ANTES DEL ENDURECIMIENTO</a:t>
            </a:r>
          </a:p>
          <a:p>
            <a:pPr>
              <a:spcBef>
                <a:spcPts val="300"/>
              </a:spcBef>
            </a:pPr>
            <a:r>
              <a:rPr sz="1250" b="1">
                <a:solidFill>
                  <a:srgbClr val="F87171"/>
                </a:solidFill>
                <a:latin typeface="Arial"/>
              </a:rPr>
              <a:t>1. Auto-Auditoría Base (MULTI-2026-0437)</a:t>
            </a:r>
          </a:p>
          <a:p>
            <a:pPr>
              <a:spcBef>
                <a:spcPts val="400"/>
              </a:spcBef>
            </a:pPr>
            <a:r>
              <a:rPr sz="930">
                <a:solidFill>
                  <a:srgbClr val="E2E8F0"/>
                </a:solidFill>
                <a:latin typeface="Arial"/>
              </a:rPr>
              <a:t>• Puntaje Global: 68.9% (Nivel L2)</a:t>
            </a:r>
          </a:p>
          <a:p>
            <a:pPr>
              <a:spcBef>
                <a:spcPts val="400"/>
              </a:spcBef>
            </a:pPr>
            <a:r>
              <a:rPr sz="930">
                <a:solidFill>
                  <a:srgbClr val="E2E8F0"/>
                </a:solidFill>
                <a:latin typeface="Arial"/>
              </a:rPr>
              <a:t>• OWASP AI-SVS v1.0: 71.8% (17 brechas)</a:t>
            </a:r>
          </a:p>
          <a:p>
            <a:pPr>
              <a:spcBef>
                <a:spcPts val="400"/>
              </a:spcBef>
            </a:pPr>
            <a:r>
              <a:rPr sz="930">
                <a:solidFill>
                  <a:srgbClr val="E2E8F0"/>
                </a:solidFill>
                <a:latin typeface="Arial"/>
              </a:rPr>
              <a:t>• ISO/IEC 42001:2023: 66.7% (18 brechas)</a:t>
            </a:r>
          </a:p>
          <a:p>
            <a:pPr>
              <a:spcBef>
                <a:spcPts val="400"/>
              </a:spcBef>
            </a:pPr>
            <a:r>
              <a:rPr sz="930">
                <a:solidFill>
                  <a:srgbClr val="E2E8F0"/>
                </a:solidFill>
                <a:latin typeface="Arial"/>
              </a:rPr>
              <a:t>• Hallazgos Detectados por AegisAI:</a:t>
            </a:r>
          </a:p>
          <a:p>
            <a:pPr>
              <a:spcBef>
                <a:spcPts val="400"/>
              </a:spcBef>
            </a:pPr>
            <a:r>
              <a:rPr sz="930">
                <a:solidFill>
                  <a:srgbClr val="E2E8F0"/>
                </a:solidFill>
                <a:latin typeface="Arial"/>
              </a:rPr>
              <a:t>  – Directorio /app/config escribible (C04.1)</a:t>
            </a:r>
          </a:p>
          <a:p>
            <a:pPr>
              <a:spcBef>
                <a:spcPts val="400"/>
              </a:spcBef>
            </a:pPr>
            <a:r>
              <a:rPr sz="930">
                <a:solidFill>
                  <a:srgbClr val="E2E8F0"/>
                </a:solidFill>
                <a:latin typeface="Arial"/>
              </a:rPr>
              <a:t>  – Comparación === vulnerable a timing (C05.3)</a:t>
            </a:r>
          </a:p>
          <a:p>
            <a:pPr>
              <a:spcBef>
                <a:spcPts val="400"/>
              </a:spcBef>
            </a:pPr>
            <a:r>
              <a:rPr sz="930">
                <a:solidFill>
                  <a:srgbClr val="E2E8F0"/>
                </a:solidFill>
                <a:latin typeface="Arial"/>
              </a:rPr>
              <a:t>  – Rol roles/viewer en SA de ejecución (C05.2)</a:t>
            </a:r>
          </a:p>
          <a:p>
            <a:pPr>
              <a:spcBef>
                <a:spcPts val="400"/>
              </a:spcBef>
            </a:pPr>
            <a:r>
              <a:rPr sz="930">
                <a:solidFill>
                  <a:srgbClr val="E2E8F0"/>
                </a:solidFill>
                <a:latin typeface="Arial"/>
              </a:rPr>
              <a:t>  – Falta de manifiesto SHA-256 (C01.4)</a:t>
            </a:r>
          </a:p>
          <a:p>
            <a:pPr>
              <a:spcBef>
                <a:spcPts val="400"/>
              </a:spcBef>
            </a:pPr>
            <a:r>
              <a:rPr sz="930">
                <a:solidFill>
                  <a:srgbClr val="E2E8F0"/>
                </a:solidFill>
                <a:latin typeface="Arial"/>
              </a:rPr>
              <a:t>  – Falta de Manual AIMS ISO 42001 y apelación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15968" y="1938528"/>
            <a:ext cx="3547872" cy="3246120"/>
          </a:xfrm>
          <a:prstGeom prst="roundRect">
            <a:avLst>
              <a:gd name="adj" fmla="val 4000"/>
            </a:avLst>
          </a:prstGeom>
          <a:solidFill>
            <a:srgbClr val="122142"/>
          </a:solidFill>
          <a:ln w="15875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28016" bIns="109728"/>
          <a:lstStyle/>
          <a:p>
            <a:pPr algn="ctr"/>
            <a:r>
              <a:rPr sz="800" b="1">
                <a:solidFill>
                  <a:srgbClr val="38BDF8"/>
                </a:solidFill>
                <a:latin typeface="Arial"/>
              </a:rPr>
              <a:t>EJECUCIÓN DE INGENIERÍA</a:t>
            </a:r>
          </a:p>
          <a:p>
            <a:pPr>
              <a:spcBef>
                <a:spcPts val="300"/>
              </a:spcBef>
            </a:pPr>
            <a:r>
              <a:rPr sz="1250" b="1">
                <a:solidFill>
                  <a:srgbClr val="60A5FA"/>
                </a:solidFill>
                <a:latin typeface="Arial"/>
              </a:rPr>
              <a:t>2. Remediación Integral en Antigravity</a:t>
            </a:r>
          </a:p>
          <a:p>
            <a:pPr>
              <a:spcBef>
                <a:spcPts val="400"/>
              </a:spcBef>
            </a:pPr>
            <a:r>
              <a:rPr sz="930">
                <a:solidFill>
                  <a:srgbClr val="E2E8F0"/>
                </a:solidFill>
                <a:latin typeface="Arial"/>
              </a:rPr>
              <a:t>• Generador: Recetario Sección 4 sin truncar (los 35 parches completos), corte por oración completa y detección precisa de lenguaje.</a:t>
            </a:r>
          </a:p>
          <a:p>
            <a:pPr>
              <a:spcBef>
                <a:spcPts val="400"/>
              </a:spcBef>
            </a:pPr>
            <a:r>
              <a:rPr sz="930">
                <a:solidFill>
                  <a:srgbClr val="E2E8F0"/>
                </a:solidFill>
                <a:latin typeface="Arial"/>
              </a:rPr>
              <a:t>• Contenedor y Cloud: chmod -R a-w /app (C04.1), Cloud IAP + bloqueo SSRF/IMDS (C04.3), revocación de roles/viewer (C05.2).</a:t>
            </a:r>
          </a:p>
          <a:p>
            <a:pPr>
              <a:spcBef>
                <a:spcPts val="400"/>
              </a:spcBef>
            </a:pPr>
            <a:r>
              <a:rPr sz="930">
                <a:solidFill>
                  <a:srgbClr val="E2E8F0"/>
                </a:solidFill>
                <a:latin typeface="Arial"/>
              </a:rPr>
              <a:t>• Guardrails: Manifiesto SHA-256 (C01.4), detector crescendo (C02.10), crypto.timingSafeEqual (C05.3), cuotas Anti-DoW (C11.1), sagas (C09.4).</a:t>
            </a:r>
          </a:p>
          <a:p>
            <a:pPr>
              <a:spcBef>
                <a:spcPts val="400"/>
              </a:spcBef>
            </a:pPr>
            <a:r>
              <a:rPr sz="930">
                <a:solidFill>
                  <a:srgbClr val="E2E8F0"/>
                </a:solidFill>
                <a:latin typeface="Arial"/>
              </a:rPr>
              <a:t>• Manuales y Reglas: Manual 8 AIMS ISO 42001 y 308/308 pruebas de reglas Firestore aprobadas.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92440" y="1938528"/>
            <a:ext cx="3547872" cy="3246120"/>
          </a:xfrm>
          <a:prstGeom prst="roundRect">
            <a:avLst>
              <a:gd name="adj" fmla="val 4000"/>
            </a:avLst>
          </a:prstGeom>
          <a:solidFill>
            <a:srgbClr val="0B2E2B"/>
          </a:solidFill>
          <a:ln w="15875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28016" bIns="109728"/>
          <a:lstStyle/>
          <a:p>
            <a:pPr algn="ctr"/>
            <a:r>
              <a:rPr sz="800" b="1">
                <a:solidFill>
                  <a:srgbClr val="34D399"/>
                </a:solidFill>
                <a:latin typeface="Arial"/>
              </a:rPr>
              <a:t>RELEASE CANDIDATE VERIFICADO</a:t>
            </a:r>
          </a:p>
          <a:p>
            <a:pPr>
              <a:spcBef>
                <a:spcPts val="300"/>
              </a:spcBef>
            </a:pPr>
            <a:r>
              <a:rPr sz="1250" b="1">
                <a:solidFill>
                  <a:srgbClr val="34D399"/>
                </a:solidFill>
                <a:latin typeface="Arial"/>
              </a:rPr>
              <a:t>3. Re-Auditoría Post-Fix (MULTI-2026-8983)</a:t>
            </a:r>
          </a:p>
          <a:p>
            <a:pPr>
              <a:spcBef>
                <a:spcPts val="400"/>
              </a:spcBef>
            </a:pPr>
            <a:r>
              <a:rPr sz="930">
                <a:solidFill>
                  <a:srgbClr val="E2E8F0"/>
                </a:solidFill>
                <a:latin typeface="Arial"/>
              </a:rPr>
              <a:t>• Puntaje Global: 97.8% (+28.9 pts)</a:t>
            </a:r>
          </a:p>
          <a:p>
            <a:pPr>
              <a:spcBef>
                <a:spcPts val="400"/>
              </a:spcBef>
            </a:pPr>
            <a:r>
              <a:rPr sz="930">
                <a:solidFill>
                  <a:srgbClr val="E2E8F0"/>
                </a:solidFill>
                <a:latin typeface="Arial"/>
              </a:rPr>
              <a:t>• ISO/IEC 42001:2023: 100.0% (54/54 controles aprobados, 0 Fallidos)</a:t>
            </a:r>
          </a:p>
          <a:p>
            <a:pPr>
              <a:spcBef>
                <a:spcPts val="400"/>
              </a:spcBef>
            </a:pPr>
            <a:r>
              <a:rPr sz="930">
                <a:solidFill>
                  <a:srgbClr val="E2E8F0"/>
                </a:solidFill>
                <a:latin typeface="Arial"/>
              </a:rPr>
              <a:t>• OWASP AI-SVS v1.0: 94.7% (45/49 aprobados, 0 Fallidos)</a:t>
            </a:r>
          </a:p>
          <a:p>
            <a:pPr>
              <a:spcBef>
                <a:spcPts val="400"/>
              </a:spcBef>
            </a:pPr>
            <a:r>
              <a:rPr sz="930">
                <a:solidFill>
                  <a:srgbClr val="E2E8F0"/>
                </a:solidFill>
                <a:latin typeface="Arial"/>
              </a:rPr>
              <a:t>• Telemetría Real en Firestore:</a:t>
            </a:r>
          </a:p>
          <a:p>
            <a:pPr>
              <a:spcBef>
                <a:spcPts val="400"/>
              </a:spcBef>
            </a:pPr>
            <a:r>
              <a:rPr sz="930">
                <a:solidFill>
                  <a:srgbClr val="E2E8F0"/>
                </a:solidFill>
                <a:latin typeface="Arial"/>
              </a:rPr>
              <a:t>  – Modelo: gemini-3.8-flash en Vertex AI</a:t>
            </a:r>
          </a:p>
          <a:p>
            <a:pPr>
              <a:spcBef>
                <a:spcPts val="400"/>
              </a:spcBef>
            </a:pPr>
            <a:r>
              <a:rPr sz="930">
                <a:solidFill>
                  <a:srgbClr val="E2E8F0"/>
                </a:solidFill>
                <a:latin typeface="Arial"/>
              </a:rPr>
              <a:t>  – Tokens de Entrada: 1,758,724</a:t>
            </a:r>
          </a:p>
          <a:p>
            <a:pPr>
              <a:spcBef>
                <a:spcPts val="400"/>
              </a:spcBef>
            </a:pPr>
            <a:r>
              <a:rPr sz="930">
                <a:solidFill>
                  <a:srgbClr val="E2E8F0"/>
                </a:solidFill>
                <a:latin typeface="Arial"/>
              </a:rPr>
              <a:t>  – Tokens de Salida: 100,715</a:t>
            </a:r>
          </a:p>
          <a:p>
            <a:pPr>
              <a:spcBef>
                <a:spcPts val="400"/>
              </a:spcBef>
            </a:pPr>
            <a:r>
              <a:rPr sz="930">
                <a:solidFill>
                  <a:srgbClr val="E2E8F0"/>
                </a:solidFill>
                <a:latin typeface="Arial"/>
              </a:rPr>
              <a:t>  – Cero fallos críticos o altos restantes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5321808"/>
            <a:ext cx="11094415" cy="841248"/>
          </a:xfrm>
          <a:prstGeom prst="roundRect">
            <a:avLst>
              <a:gd name="adj" fmla="val 4000"/>
            </a:avLst>
          </a:prstGeom>
          <a:solidFill>
            <a:srgbClr val="111827"/>
          </a:solidFill>
          <a:ln w="15875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28016" bIns="109728"/>
          <a:lstStyle/>
          <a:p>
            <a:pPr algn="ctr"/>
            <a:r>
              <a:rPr sz="950">
                <a:solidFill>
                  <a:srgbClr val="E2E8F0"/>
                </a:solidFill>
                <a:latin typeface="Arial"/>
              </a:rPr>
              <a:t>Valor de la Auto-Auditoría: Auditar AegisAI consigo misma demostró que el motor no alucina aprobaciones: detectó vulnerabilidades sutiles (como providedToken === configuredToken y brechas documentales de ISO 42001) y verificó su cierre tras la remediación.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82880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Arial"/>
              </a:rPr>
              <a:t>AEGIS</a:t>
            </a:r>
            <a:r>
              <a:rPr sz="1800" b="1">
                <a:solidFill>
                  <a:srgbClr val="60A5FA"/>
                </a:solidFill>
                <a:latin typeface="Arial"/>
              </a:rPr>
              <a:t>AI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691640" y="320040"/>
            <a:ext cx="3108960" cy="292608"/>
          </a:xfrm>
          <a:prstGeom prst="roundRect">
            <a:avLst/>
          </a:prstGeom>
          <a:solidFill>
            <a:srgbClr val="122142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18288" bIns="18288"/>
          <a:lstStyle/>
          <a:p>
            <a:pPr algn="ctr"/>
            <a:r>
              <a:rPr sz="850" b="1">
                <a:solidFill>
                  <a:srgbClr val="60A5FA"/>
                </a:solidFill>
                <a:latin typeface="Arial"/>
              </a:rPr>
              <a:t>RELEASE CANDIDATE EMPRESARIAL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310896"/>
            <a:ext cx="112471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>
                <a:solidFill>
                  <a:srgbClr val="94A3B8"/>
                </a:solidFill>
                <a:latin typeface="Courier New"/>
              </a:rPr>
              <a:t>07 / 16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94944"/>
            <a:ext cx="11094415" cy="13716"/>
          </a:xfrm>
          <a:prstGeom prst="rect">
            <a:avLst/>
          </a:prstGeom>
          <a:solidFill>
            <a:srgbClr val="2D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6327648"/>
            <a:ext cx="11094415" cy="13716"/>
          </a:xfrm>
          <a:prstGeom prst="rect">
            <a:avLst/>
          </a:prstGeom>
          <a:solidFill>
            <a:srgbClr val="2D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382512"/>
            <a:ext cx="54864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94A3B8"/>
                </a:solidFill>
                <a:latin typeface="Arial"/>
              </a:rPr>
              <a:t>AegisAI Enterprise • Roadshow Ejecutivo del Release Candidate (RC)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35040" y="6382512"/>
            <a:ext cx="5608015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94A3B8"/>
                </a:solidFill>
                <a:latin typeface="Arial"/>
              </a:rPr>
              <a:t>Validado con Farmacias del Ahorro • Asociación Mexicana de Franquicias • Grupo Coppel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786384"/>
            <a:ext cx="11094415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50" b="1">
                <a:solidFill>
                  <a:srgbClr val="38BDF8"/>
                </a:solidFill>
                <a:latin typeface="Arial"/>
              </a:rPr>
              <a:t>VALIDACIÓN DE MERCADO Y ROADSHOW EJECUTIVO</a:t>
            </a:r>
          </a:p>
          <a:p>
            <a:pPr>
              <a:spcBef>
                <a:spcPts val="200"/>
              </a:spcBef>
            </a:pPr>
            <a:r>
              <a:rPr sz="2200" b="1">
                <a:solidFill>
                  <a:srgbClr val="FFFFFF"/>
                </a:solidFill>
                <a:latin typeface="Arial"/>
              </a:rPr>
              <a:t>Release Candidate (RC) Presentado ante Empresas Estratégicas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94A3B8"/>
                </a:solidFill>
                <a:latin typeface="Arial"/>
              </a:rPr>
              <a:t>Tras completar el ciclo de auto-auditoría y endurecimiento, presentamos el Release Candidate ante tres organizaciones líderes en México.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938528"/>
            <a:ext cx="3547872" cy="3246120"/>
          </a:xfrm>
          <a:prstGeom prst="roundRect">
            <a:avLst>
              <a:gd name="adj" fmla="val 4000"/>
            </a:avLst>
          </a:prstGeom>
          <a:solidFill>
            <a:srgbClr val="122142"/>
          </a:solidFill>
          <a:ln w="15875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28016" bIns="109728"/>
          <a:lstStyle/>
          <a:p>
            <a:pPr algn="ctr"/>
            <a:r>
              <a:rPr sz="800" b="1">
                <a:solidFill>
                  <a:srgbClr val="38BDF8"/>
                </a:solidFill>
                <a:latin typeface="Arial"/>
              </a:rPr>
              <a:t>SALUD Y RETAIL FARMACÉUTICO</a:t>
            </a:r>
          </a:p>
          <a:p>
            <a:pPr>
              <a:spcBef>
                <a:spcPts val="300"/>
              </a:spcBef>
            </a:pPr>
            <a:r>
              <a:rPr sz="1250" b="1">
                <a:solidFill>
                  <a:srgbClr val="60A5FA"/>
                </a:solidFill>
                <a:latin typeface="Arial"/>
              </a:rPr>
              <a:t>Farmacias del Ahorro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E2E8F0"/>
                </a:solidFill>
                <a:latin typeface="Arial"/>
              </a:rPr>
              <a:t>• Enfoque del Caso de Uso: Auditoría de asistentes digitales farmacéuticos, orientación clínica y atención omnicanal con IA.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E2E8F0"/>
                </a:solidFill>
                <a:latin typeface="Arial"/>
              </a:rPr>
              <a:t>• Capacidades Clave Demostradas: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E2E8F0"/>
                </a:solidFill>
                <a:latin typeface="Arial"/>
              </a:rPr>
              <a:t>  – Protección estricta de datos sensibles de salud/PII bajo la LFPDPPP y enmascaramiento DLP pre-inferencia.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E2E8F0"/>
                </a:solidFill>
                <a:latin typeface="Arial"/>
              </a:rPr>
              <a:t>  – Mitigación de alucinaciones (temperature: 0.0) y escalamiento a revisión humana (ISO 42001 A.5.2).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E2E8F0"/>
                </a:solidFill>
                <a:latin typeface="Arial"/>
              </a:rPr>
              <a:t>  – Telemetría continua de citación y anclaje RAG (C08.4) en Vertex AI.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15968" y="1938528"/>
            <a:ext cx="3547872" cy="3246120"/>
          </a:xfrm>
          <a:prstGeom prst="roundRect">
            <a:avLst>
              <a:gd name="adj" fmla="val 4000"/>
            </a:avLst>
          </a:prstGeom>
          <a:solidFill>
            <a:srgbClr val="0B2E2B"/>
          </a:solidFill>
          <a:ln w="15875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28016" bIns="109728"/>
          <a:lstStyle/>
          <a:p>
            <a:pPr algn="ctr"/>
            <a:r>
              <a:rPr sz="800" b="1">
                <a:solidFill>
                  <a:srgbClr val="34D399"/>
                </a:solidFill>
                <a:latin typeface="Arial"/>
              </a:rPr>
              <a:t>ECOSISTEMA NACIONAL DE FRANQUICIAS</a:t>
            </a:r>
          </a:p>
          <a:p>
            <a:pPr>
              <a:spcBef>
                <a:spcPts val="300"/>
              </a:spcBef>
            </a:pPr>
            <a:r>
              <a:rPr sz="1250" b="1">
                <a:solidFill>
                  <a:srgbClr val="34D399"/>
                </a:solidFill>
                <a:latin typeface="Arial"/>
              </a:rPr>
              <a:t>Asociación Mexicana de Franquicias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E2E8F0"/>
                </a:solidFill>
                <a:latin typeface="Arial"/>
              </a:rPr>
              <a:t>• Enfoque del Caso de Uso: Estandarización de gobernanza de IA, chatbots comerciales y publicidad automatizada en redes de franquicias.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E2E8F0"/>
                </a:solidFill>
                <a:latin typeface="Arial"/>
              </a:rPr>
              <a:t>• Capacidades Clave Demostradas: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E2E8F0"/>
                </a:solidFill>
                <a:latin typeface="Arial"/>
              </a:rPr>
              <a:t>  – Cumplimiento LFPC (Profeco 2026): prevención de patrones oscuros y retracto comercial de 5 días (Art. 56).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E2E8F0"/>
                </a:solidFill>
                <a:latin typeface="Arial"/>
              </a:rPr>
              <a:t>  – Motor BYOF: Marcos normativos propios para franquicias con auditorías Flash de ultra bajo costo ($0.08 USD).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92440" y="1938528"/>
            <a:ext cx="3547872" cy="3246120"/>
          </a:xfrm>
          <a:prstGeom prst="roundRect">
            <a:avLst>
              <a:gd name="adj" fmla="val 4000"/>
            </a:avLst>
          </a:prstGeom>
          <a:solidFill>
            <a:srgbClr val="261840"/>
          </a:solidFill>
          <a:ln w="15875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28016" bIns="109728"/>
          <a:lstStyle/>
          <a:p>
            <a:pPr algn="ctr"/>
            <a:r>
              <a:rPr sz="800" b="1">
                <a:solidFill>
                  <a:srgbClr val="D8B4FE"/>
                </a:solidFill>
                <a:latin typeface="Arial"/>
              </a:rPr>
              <a:t>SERVICIOS FINANCIEROS Y RETAIL</a:t>
            </a:r>
          </a:p>
          <a:p>
            <a:pPr>
              <a:spcBef>
                <a:spcPts val="300"/>
              </a:spcBef>
            </a:pPr>
            <a:r>
              <a:rPr sz="1250" b="1">
                <a:solidFill>
                  <a:srgbClr val="D8B4FE"/>
                </a:solidFill>
                <a:latin typeface="Arial"/>
              </a:rPr>
              <a:t>Grupo Coppel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E2E8F0"/>
                </a:solidFill>
                <a:latin typeface="Arial"/>
              </a:rPr>
              <a:t>• Enfoque del Caso de Uso: Modelos de riesgo crediticio, prevención de fraude transaccional y gobernanza corporativa de GenAI a gran escala.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E2E8F0"/>
                </a:solidFill>
                <a:latin typeface="Arial"/>
              </a:rPr>
              <a:t>• Capacidades Clave Demostradas: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E2E8F0"/>
                </a:solidFill>
                <a:latin typeface="Arial"/>
              </a:rPr>
              <a:t>  – Certificación simultánea OWASP AI-SVS v1.0 (Nivel L2/L3) + ISO/IEC 42001:2023.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E2E8F0"/>
                </a:solidFill>
                <a:latin typeface="Arial"/>
              </a:rPr>
              <a:t>  – Aislamiento multi-inquilino por dominio (C05.4, C08.1), borde Cloud IAP Zero-Trust y GCP Live Scanner sin llaves.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E2E8F0"/>
                </a:solidFill>
                <a:latin typeface="Arial"/>
              </a:rPr>
              <a:t>  – Generación de arquitectura remediada y recetario Terraform/TypeScript.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5321808"/>
            <a:ext cx="11094415" cy="841248"/>
          </a:xfrm>
          <a:prstGeom prst="roundRect">
            <a:avLst>
              <a:gd name="adj" fmla="val 4000"/>
            </a:avLst>
          </a:prstGeom>
          <a:solidFill>
            <a:srgbClr val="111827"/>
          </a:solidFill>
          <a:ln w="15875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28016" bIns="109728"/>
          <a:lstStyle/>
          <a:p>
            <a:pPr algn="ctr"/>
            <a:r>
              <a:rPr sz="950">
                <a:solidFill>
                  <a:srgbClr val="E2E8F0"/>
                </a:solidFill>
                <a:latin typeface="Arial"/>
              </a:rPr>
              <a:t>Impacto en las Presentaciones RC: Los comités directivos destacaron la capacidad única de AegisAI para unificar estándares globales (OWASP AI-SVS + ISO 42001) con legislación mexicana (LFPDPPP + LFPC) entregando código listo para producción en minutos.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82880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Arial"/>
              </a:rPr>
              <a:t>AEGIS</a:t>
            </a:r>
            <a:r>
              <a:rPr sz="1800" b="1">
                <a:solidFill>
                  <a:srgbClr val="60A5FA"/>
                </a:solidFill>
                <a:latin typeface="Arial"/>
              </a:rPr>
              <a:t>AI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691640" y="320040"/>
            <a:ext cx="3108960" cy="292608"/>
          </a:xfrm>
          <a:prstGeom prst="roundRect">
            <a:avLst/>
          </a:prstGeom>
          <a:solidFill>
            <a:srgbClr val="122142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18288" bIns="18288"/>
          <a:lstStyle/>
          <a:p>
            <a:pPr algn="ctr"/>
            <a:r>
              <a:rPr sz="850" b="1">
                <a:solidFill>
                  <a:srgbClr val="60A5FA"/>
                </a:solidFill>
                <a:latin typeface="Arial"/>
              </a:rPr>
              <a:t>ECONOMÍA UNITARIA Y BENCHMARK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310896"/>
            <a:ext cx="112471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>
                <a:solidFill>
                  <a:srgbClr val="94A3B8"/>
                </a:solidFill>
                <a:latin typeface="Courier New"/>
              </a:rPr>
              <a:t>08 / 16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94944"/>
            <a:ext cx="11094415" cy="13716"/>
          </a:xfrm>
          <a:prstGeom prst="rect">
            <a:avLst/>
          </a:prstGeom>
          <a:solidFill>
            <a:srgbClr val="2D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6327648"/>
            <a:ext cx="11094415" cy="13716"/>
          </a:xfrm>
          <a:prstGeom prst="rect">
            <a:avLst/>
          </a:prstGeom>
          <a:solidFill>
            <a:srgbClr val="2D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382512"/>
            <a:ext cx="54864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94A3B8"/>
                </a:solidFill>
                <a:latin typeface="Arial"/>
              </a:rPr>
              <a:t>AegisAI Enterprise • Economía Unitaria por Auditoría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35040" y="6382512"/>
            <a:ext cx="5608015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94A3B8"/>
                </a:solidFill>
                <a:latin typeface="Arial"/>
              </a:rPr>
              <a:t>Fuente: Telemetría Real en Cloud Firestore (aegis-ai-db) Auditorías MULTI-2026-0437, 8983, 0507 y 1250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786384"/>
            <a:ext cx="11094415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50" b="1">
                <a:solidFill>
                  <a:srgbClr val="38BDF8"/>
                </a:solidFill>
                <a:latin typeface="Arial"/>
              </a:rPr>
              <a:t>ANÁLISIS FINOPS: COSTO POR AUDITORÍA COMPLETA OWASP AI-SVS + ISO/IEC 42001</a:t>
            </a:r>
          </a:p>
          <a:p>
            <a:pPr>
              <a:spcBef>
                <a:spcPts val="200"/>
              </a:spcBef>
            </a:pPr>
            <a:r>
              <a:rPr sz="2200" b="1">
                <a:solidFill>
                  <a:srgbClr val="FFFFFF"/>
                </a:solidFill>
                <a:latin typeface="Arial"/>
              </a:rPr>
              <a:t>Gemini (3.8 Flash, 3.1 Pro, 4.0 Argon) vs. Claude (Fable 5.1, Opus 5.5)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94A3B8"/>
                </a:solidFill>
                <a:latin typeface="Arial"/>
              </a:rPr>
              <a:t>Calculado con telemetría real de tokens en Firestore a través de las 12 llamadas Map-Reduce por auditoría multi-estándar.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48640" y="1901952"/>
          <a:ext cx="11094415" cy="2331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99055"/>
                <a:gridCol w="2011680"/>
                <a:gridCol w="2194560"/>
                <a:gridCol w="2377440"/>
                <a:gridCol w="2011680"/>
              </a:tblGrid>
              <a:tr h="388620"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38BDF8"/>
                          </a:solidFill>
                          <a:latin typeface="Arial"/>
                        </a:rPr>
                        <a:t>Modelo de IA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38BDF8"/>
                          </a:solidFill>
                          <a:latin typeface="Arial"/>
                        </a:rPr>
                        <a:t>Tarifa API (In / Out por 1M)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38BDF8"/>
                          </a:solidFill>
                          <a:latin typeface="Arial"/>
                        </a:rPr>
                        <a:t>Auditoría Estándar (370K In + 40K Out)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38BDF8"/>
                          </a:solidFill>
                          <a:latin typeface="Arial"/>
                        </a:rPr>
                        <a:t>Suite 10 PDFs (1.64M In + 86.5K Out)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38BDF8"/>
                          </a:solidFill>
                          <a:latin typeface="Arial"/>
                        </a:rPr>
                        <a:t>Multiplicador vs. 3.8 Flash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Gemini 3.8 Flash (Producción)</a:t>
                      </a:r>
                    </a:p>
                  </a:txBody>
                  <a:tcPr anchor="ctr">
                    <a:solidFill>
                      <a:srgbClr val="0B2E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34D399"/>
                          </a:solidFill>
                          <a:latin typeface="Arial"/>
                        </a:rPr>
                        <a:t>$0.15 / $0.60</a:t>
                      </a:r>
                    </a:p>
                  </a:txBody>
                  <a:tcPr anchor="ctr">
                    <a:solidFill>
                      <a:srgbClr val="0B2E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34D399"/>
                          </a:solidFill>
                          <a:latin typeface="Arial"/>
                        </a:rPr>
                        <a:t>$0.08 USD ($0.0795)</a:t>
                      </a:r>
                    </a:p>
                  </a:txBody>
                  <a:tcPr anchor="ctr">
                    <a:solidFill>
                      <a:srgbClr val="0B2E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34D399"/>
                          </a:solidFill>
                          <a:latin typeface="Arial"/>
                        </a:rPr>
                        <a:t>$0.30 USD ($0.2979)</a:t>
                      </a:r>
                    </a:p>
                  </a:txBody>
                  <a:tcPr anchor="ctr">
                    <a:solidFill>
                      <a:srgbClr val="0B2E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34D399"/>
                          </a:solidFill>
                          <a:latin typeface="Arial"/>
                        </a:rPr>
                        <a:t>1.0x (Base)</a:t>
                      </a:r>
                    </a:p>
                  </a:txBody>
                  <a:tcPr anchor="ctr">
                    <a:solidFill>
                      <a:srgbClr val="0B2E2B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Gemini 3.1 Pro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E2E8F0"/>
                          </a:solidFill>
                          <a:latin typeface="Arial"/>
                        </a:rPr>
                        <a:t>$1.25 / $10.00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E2E8F0"/>
                          </a:solidFill>
                          <a:latin typeface="Arial"/>
                        </a:rPr>
                        <a:t>$0.86 USD ($0.8625)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E2E8F0"/>
                          </a:solidFill>
                          <a:latin typeface="Arial"/>
                        </a:rPr>
                        <a:t>$2.92 USD ($2.9150)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E2E8F0"/>
                          </a:solidFill>
                          <a:latin typeface="Arial"/>
                        </a:rPr>
                        <a:t>9.8x – 10.8x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Gemini 4.0 Argon (Frontier)</a:t>
                      </a:r>
                    </a:p>
                  </a:txBody>
                  <a:tcPr anchor="ctr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E2E8F0"/>
                          </a:solidFill>
                          <a:latin typeface="Arial"/>
                        </a:rPr>
                        <a:t>$2.00 / $12.00</a:t>
                      </a:r>
                    </a:p>
                  </a:txBody>
                  <a:tcPr anchor="ctr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E2E8F0"/>
                          </a:solidFill>
                          <a:latin typeface="Arial"/>
                        </a:rPr>
                        <a:t>$1.22 USD ($1.2200)</a:t>
                      </a:r>
                    </a:p>
                  </a:txBody>
                  <a:tcPr anchor="ctr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E2E8F0"/>
                          </a:solidFill>
                          <a:latin typeface="Arial"/>
                        </a:rPr>
                        <a:t>$4.32 USD ($4.3180)</a:t>
                      </a:r>
                    </a:p>
                  </a:txBody>
                  <a:tcPr anchor="ctr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E2E8F0"/>
                          </a:solidFill>
                          <a:latin typeface="Arial"/>
                        </a:rPr>
                        <a:t>14.5x – 15.3x</a:t>
                      </a:r>
                    </a:p>
                  </a:txBody>
                  <a:tcPr anchor="ctr">
                    <a:solidFill>
                      <a:srgbClr val="111827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Claude Fable 5.1 Medium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E2E8F0"/>
                          </a:solidFill>
                          <a:latin typeface="Arial"/>
                        </a:rPr>
                        <a:t>$3.00 / $15.00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E2E8F0"/>
                          </a:solidFill>
                          <a:latin typeface="Arial"/>
                        </a:rPr>
                        <a:t>$1.71 USD ($1.7100)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E2E8F0"/>
                          </a:solidFill>
                          <a:latin typeface="Arial"/>
                        </a:rPr>
                        <a:t>$6.22 USD ($6.2175)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E2E8F0"/>
                          </a:solidFill>
                          <a:latin typeface="Arial"/>
                        </a:rPr>
                        <a:t>20.9x – 21.5x más caro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Claude Opus 5.5 Max</a:t>
                      </a:r>
                    </a:p>
                  </a:txBody>
                  <a:tcPr anchor="ctr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E2E8F0"/>
                          </a:solidFill>
                          <a:latin typeface="Arial"/>
                        </a:rPr>
                        <a:t>$15.00 / $75.00</a:t>
                      </a:r>
                    </a:p>
                  </a:txBody>
                  <a:tcPr anchor="ctr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E2E8F0"/>
                          </a:solidFill>
                          <a:latin typeface="Arial"/>
                        </a:rPr>
                        <a:t>$8.55 USD ($8.5500)</a:t>
                      </a:r>
                    </a:p>
                  </a:txBody>
                  <a:tcPr anchor="ctr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E2E8F0"/>
                          </a:solidFill>
                          <a:latin typeface="Arial"/>
                        </a:rPr>
                        <a:t>$31.09 USD ($31.0875)</a:t>
                      </a:r>
                    </a:p>
                  </a:txBody>
                  <a:tcPr anchor="ctr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E2E8F0"/>
                          </a:solidFill>
                          <a:latin typeface="Arial"/>
                        </a:rPr>
                        <a:t>104.4x – 107.5x más caro</a:t>
                      </a:r>
                    </a:p>
                  </a:txBody>
                  <a:tcPr anchor="ctr">
                    <a:solidFill>
                      <a:srgbClr val="111827"/>
                    </a:solidFill>
                  </a:tcPr>
                </a:tc>
              </a:tr>
            </a:tbl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548640" y="4407408"/>
            <a:ext cx="3547872" cy="1737360"/>
          </a:xfrm>
          <a:prstGeom prst="roundRect">
            <a:avLst>
              <a:gd name="adj" fmla="val 4000"/>
            </a:avLst>
          </a:prstGeom>
          <a:solidFill>
            <a:srgbClr val="111827"/>
          </a:solidFill>
          <a:ln w="15875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28016" bIns="109728"/>
          <a:lstStyle/>
          <a:p>
            <a:pPr algn="ctr"/>
            <a:r>
              <a:rPr sz="1250" b="1">
                <a:solidFill>
                  <a:srgbClr val="34D399"/>
                </a:solidFill>
                <a:latin typeface="Arial"/>
              </a:rPr>
              <a:t>Base de Telemetría Real (Firestore)</a:t>
            </a:r>
          </a:p>
          <a:p>
            <a:pPr>
              <a:spcBef>
                <a:spcPts val="400"/>
              </a:spcBef>
            </a:pPr>
            <a:r>
              <a:rPr sz="900">
                <a:solidFill>
                  <a:srgbClr val="E2E8F0"/>
                </a:solidFill>
                <a:latin typeface="Arial"/>
              </a:rPr>
              <a:t>• Auditoría Estándar (MULTI-2026-0507 / 1250): Promedio 368,827 tokens entrada + 39,812 salida.</a:t>
            </a:r>
          </a:p>
          <a:p>
            <a:pPr>
              <a:spcBef>
                <a:spcPts val="400"/>
              </a:spcBef>
            </a:pPr>
            <a:r>
              <a:rPr sz="900">
                <a:solidFill>
                  <a:srgbClr val="E2E8F0"/>
                </a:solidFill>
                <a:latin typeface="Arial"/>
              </a:rPr>
              <a:t>• Auditoría ZIP 10 PDFs (MULTI-2026-0437 / 8983): Promedio 1,638,410 entrada + 86,495 salida en 12 lotes (~136K contexto/llamada).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15968" y="4407408"/>
            <a:ext cx="3547872" cy="1737360"/>
          </a:xfrm>
          <a:prstGeom prst="roundRect">
            <a:avLst>
              <a:gd name="adj" fmla="val 4000"/>
            </a:avLst>
          </a:prstGeom>
          <a:solidFill>
            <a:srgbClr val="111827"/>
          </a:solidFill>
          <a:ln w="15875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28016" bIns="109728"/>
          <a:lstStyle/>
          <a:p>
            <a:pPr algn="ctr"/>
            <a:r>
              <a:rPr sz="1250" b="1">
                <a:solidFill>
                  <a:srgbClr val="60A5FA"/>
                </a:solidFill>
                <a:latin typeface="Arial"/>
              </a:rPr>
              <a:t>FinOps Anual @ 1,000 Auditorías/Año</a:t>
            </a:r>
          </a:p>
          <a:p>
            <a:pPr>
              <a:spcBef>
                <a:spcPts val="400"/>
              </a:spcBef>
            </a:pPr>
            <a:r>
              <a:rPr sz="900">
                <a:solidFill>
                  <a:srgbClr val="E2E8F0"/>
                </a:solidFill>
                <a:latin typeface="Arial"/>
              </a:rPr>
              <a:t>• Gemini 3.8 Flash: $298 / año (ZIP) o $80 / año (Estándar)</a:t>
            </a:r>
          </a:p>
          <a:p>
            <a:pPr>
              <a:spcBef>
                <a:spcPts val="400"/>
              </a:spcBef>
            </a:pPr>
            <a:r>
              <a:rPr sz="900">
                <a:solidFill>
                  <a:srgbClr val="E2E8F0"/>
                </a:solidFill>
                <a:latin typeface="Arial"/>
              </a:rPr>
              <a:t>• Gemini 3.1 Pro: $2,915 / año (ZIP) o $863 / año (Estándar)</a:t>
            </a:r>
          </a:p>
          <a:p>
            <a:pPr>
              <a:spcBef>
                <a:spcPts val="400"/>
              </a:spcBef>
            </a:pPr>
            <a:r>
              <a:rPr sz="900">
                <a:solidFill>
                  <a:srgbClr val="E2E8F0"/>
                </a:solidFill>
                <a:latin typeface="Arial"/>
              </a:rPr>
              <a:t>• Gemini 4.0 Argon: $4,318 / año (ZIP) o $1,220 / año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92440" y="4407408"/>
            <a:ext cx="3547872" cy="1737360"/>
          </a:xfrm>
          <a:prstGeom prst="roundRect">
            <a:avLst>
              <a:gd name="adj" fmla="val 4000"/>
            </a:avLst>
          </a:prstGeom>
          <a:solidFill>
            <a:srgbClr val="111827"/>
          </a:solidFill>
          <a:ln w="15875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28016" bIns="109728"/>
          <a:lstStyle/>
          <a:p>
            <a:pPr algn="ctr"/>
            <a:r>
              <a:rPr sz="1250" b="1">
                <a:solidFill>
                  <a:srgbClr val="FBBF24"/>
                </a:solidFill>
                <a:latin typeface="Arial"/>
              </a:rPr>
              <a:t>Gasto Competidor @ 1,000 Auditorías/Año</a:t>
            </a:r>
          </a:p>
          <a:p>
            <a:pPr>
              <a:spcBef>
                <a:spcPts val="400"/>
              </a:spcBef>
            </a:pPr>
            <a:r>
              <a:rPr sz="900">
                <a:solidFill>
                  <a:srgbClr val="E2E8F0"/>
                </a:solidFill>
                <a:latin typeface="Arial"/>
              </a:rPr>
              <a:t>• Claude Fable 5.1 Medium: $6,218 / año (21x mayor)</a:t>
            </a:r>
          </a:p>
          <a:p>
            <a:pPr>
              <a:spcBef>
                <a:spcPts val="400"/>
              </a:spcBef>
            </a:pPr>
            <a:r>
              <a:rPr sz="900">
                <a:solidFill>
                  <a:srgbClr val="E2E8F0"/>
                </a:solidFill>
                <a:latin typeface="Arial"/>
              </a:rPr>
              <a:t>• Claude Opus 5.5 Max: $31,088 / año (104x mayor)</a:t>
            </a:r>
          </a:p>
          <a:p>
            <a:pPr>
              <a:spcBef>
                <a:spcPts val="400"/>
              </a:spcBef>
            </a:pPr>
            <a:r>
              <a:rPr sz="900">
                <a:solidFill>
                  <a:srgbClr val="E2E8F0"/>
                </a:solidFill>
                <a:latin typeface="Arial"/>
              </a:rPr>
              <a:t>• Ahorro con Gemini 3.8 Flash: &gt;99% de reducción en costos.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82880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Arial"/>
              </a:rPr>
              <a:t>AEGIS</a:t>
            </a:r>
            <a:r>
              <a:rPr sz="1800" b="1">
                <a:solidFill>
                  <a:srgbClr val="60A5FA"/>
                </a:solidFill>
                <a:latin typeface="Arial"/>
              </a:rPr>
              <a:t>AI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691640" y="320040"/>
            <a:ext cx="3108960" cy="292608"/>
          </a:xfrm>
          <a:prstGeom prst="roundRect">
            <a:avLst/>
          </a:prstGeom>
          <a:solidFill>
            <a:srgbClr val="122142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18288" bIns="18288"/>
          <a:lstStyle/>
          <a:p>
            <a:pPr algn="ctr"/>
            <a:r>
              <a:rPr sz="850" b="1">
                <a:solidFill>
                  <a:srgbClr val="60A5FA"/>
                </a:solidFill>
                <a:latin typeface="Arial"/>
              </a:rPr>
              <a:t>COSTO TOTAL DE CREACIÓN (TCO)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310896"/>
            <a:ext cx="112471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>
                <a:solidFill>
                  <a:srgbClr val="94A3B8"/>
                </a:solidFill>
                <a:latin typeface="Courier New"/>
              </a:rPr>
              <a:t>09 / 16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94944"/>
            <a:ext cx="11094415" cy="13716"/>
          </a:xfrm>
          <a:prstGeom prst="rect">
            <a:avLst/>
          </a:prstGeom>
          <a:solidFill>
            <a:srgbClr val="2D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6327648"/>
            <a:ext cx="11094415" cy="13716"/>
          </a:xfrm>
          <a:prstGeom prst="rect">
            <a:avLst/>
          </a:prstGeom>
          <a:solidFill>
            <a:srgbClr val="2D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382512"/>
            <a:ext cx="54864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94A3B8"/>
                </a:solidFill>
                <a:latin typeface="Arial"/>
              </a:rPr>
              <a:t>AegisAI Enterprise • Costo Total de Desarrollo (TCO)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35040" y="6382512"/>
            <a:ext cx="5608015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94A3B8"/>
                </a:solidFill>
                <a:latin typeface="Arial"/>
              </a:rPr>
              <a:t>99.0% de Ahorro vs. Claude Opus 5.5 Max • 99.98% de Ahorro vs. Desarrollo Tradicional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786384"/>
            <a:ext cx="11094415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50" b="1">
                <a:solidFill>
                  <a:srgbClr val="38BDF8"/>
                </a:solidFill>
                <a:latin typeface="Arial"/>
              </a:rPr>
              <a:t>ROI DE INGENIERÍA Y DESGLOSE DE COSTOS DE DESARROLLO</a:t>
            </a:r>
          </a:p>
          <a:p>
            <a:pPr>
              <a:spcBef>
                <a:spcPts val="200"/>
              </a:spcBef>
            </a:pPr>
            <a:r>
              <a:rPr sz="2200" b="1">
                <a:solidFill>
                  <a:srgbClr val="FFFFFF"/>
                </a:solidFill>
                <a:latin typeface="Arial"/>
              </a:rPr>
              <a:t>Cuánto Dinero Gastamos Creando AegisAI: $19.41 USD en Total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94A3B8"/>
                </a:solidFill>
                <a:latin typeface="Arial"/>
              </a:rPr>
              <a:t>Contabilidad completa de consumo de tokens de IA e infraestructura Google Cloud desde el PoC en AI Studio hasta el Release Candidate.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874519"/>
            <a:ext cx="2606040" cy="1143000"/>
          </a:xfrm>
          <a:prstGeom prst="roundRect">
            <a:avLst>
              <a:gd name="adj" fmla="val 6000"/>
            </a:avLst>
          </a:prstGeom>
          <a:solidFill>
            <a:srgbClr val="111827"/>
          </a:solidFill>
          <a:ln w="15875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  <a:r>
              <a:rPr sz="2400" b="1">
                <a:solidFill>
                  <a:srgbClr val="34D399"/>
                </a:solidFill>
                <a:latin typeface="Arial"/>
              </a:rPr>
              <a:t>$19.41</a:t>
            </a:r>
          </a:p>
          <a:p>
            <a:pPr algn="ctr">
              <a:spcBef>
                <a:spcPts val="300"/>
              </a:spcBef>
            </a:pPr>
            <a:r>
              <a:rPr sz="900">
                <a:solidFill>
                  <a:srgbClr val="94A3B8"/>
                </a:solidFill>
                <a:latin typeface="Arial"/>
              </a:rPr>
              <a:t>Inversión Total para crear AegisAI (Tokens IA + GCP)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74136" y="1874519"/>
            <a:ext cx="2606040" cy="1143000"/>
          </a:xfrm>
          <a:prstGeom prst="roundRect">
            <a:avLst>
              <a:gd name="adj" fmla="val 6000"/>
            </a:avLst>
          </a:prstGeom>
          <a:solidFill>
            <a:srgbClr val="111827"/>
          </a:solidFill>
          <a:ln w="15875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  <a:r>
              <a:rPr sz="2400" b="1">
                <a:solidFill>
                  <a:srgbClr val="38BDF8"/>
                </a:solidFill>
                <a:latin typeface="Arial"/>
              </a:rPr>
              <a:t>~71.0M</a:t>
            </a:r>
          </a:p>
          <a:p>
            <a:pPr algn="ctr">
              <a:spcBef>
                <a:spcPts val="300"/>
              </a:spcBef>
            </a:pPr>
            <a:r>
              <a:rPr sz="900">
                <a:solidFill>
                  <a:srgbClr val="94A3B8"/>
                </a:solidFill>
                <a:latin typeface="Arial"/>
              </a:rPr>
              <a:t>Tokens Totales de Entrada en AI Studio, Antigravity y QA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99632" y="1874519"/>
            <a:ext cx="2606040" cy="1143000"/>
          </a:xfrm>
          <a:prstGeom prst="roundRect">
            <a:avLst>
              <a:gd name="adj" fmla="val 6000"/>
            </a:avLst>
          </a:prstGeom>
          <a:solidFill>
            <a:srgbClr val="111827"/>
          </a:solidFill>
          <a:ln w="15875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  <a:r>
              <a:rPr sz="2400" b="1">
                <a:solidFill>
                  <a:srgbClr val="FBBF24"/>
                </a:solidFill>
                <a:latin typeface="Arial"/>
              </a:rPr>
              <a:t>$1,931</a:t>
            </a:r>
          </a:p>
          <a:p>
            <a:pPr algn="ctr">
              <a:spcBef>
                <a:spcPts val="300"/>
              </a:spcBef>
            </a:pPr>
            <a:r>
              <a:rPr sz="900">
                <a:solidFill>
                  <a:srgbClr val="94A3B8"/>
                </a:solidFill>
                <a:latin typeface="Arial"/>
              </a:rPr>
              <a:t>Costo del mismo volumen de tokens en Claude Opus 5.5 Max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034272" y="1874519"/>
            <a:ext cx="2606040" cy="1143000"/>
          </a:xfrm>
          <a:prstGeom prst="roundRect">
            <a:avLst>
              <a:gd name="adj" fmla="val 6000"/>
            </a:avLst>
          </a:prstGeom>
          <a:solidFill>
            <a:srgbClr val="111827"/>
          </a:solidFill>
          <a:ln w="15875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  <a:r>
              <a:rPr sz="2400" b="1">
                <a:solidFill>
                  <a:srgbClr val="D8B4FE"/>
                </a:solidFill>
                <a:latin typeface="Arial"/>
              </a:rPr>
              <a:t>~$95,000</a:t>
            </a:r>
          </a:p>
          <a:p>
            <a:pPr algn="ctr">
              <a:spcBef>
                <a:spcPts val="300"/>
              </a:spcBef>
            </a:pPr>
            <a:r>
              <a:rPr sz="900">
                <a:solidFill>
                  <a:srgbClr val="94A3B8"/>
                </a:solidFill>
                <a:latin typeface="Arial"/>
              </a:rPr>
              <a:t>Costo equivalente de ingeniería tradicional (4 ing. × 3 meses)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548640" y="3154680"/>
          <a:ext cx="11094415" cy="2971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2560320"/>
                <a:gridCol w="3230575"/>
                <a:gridCol w="1371600"/>
                <a:gridCol w="1371600"/>
              </a:tblGrid>
              <a:tr h="424542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38BDF8"/>
                          </a:solidFill>
                          <a:latin typeface="Arial"/>
                        </a:rPr>
                        <a:t>Fase de Desarrollo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38BDF8"/>
                          </a:solidFill>
                          <a:latin typeface="Arial"/>
                        </a:rPr>
                        <a:t>Plataforma y Modelo Utilizado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38BDF8"/>
                          </a:solidFill>
                          <a:latin typeface="Arial"/>
                        </a:rPr>
                        <a:t>Volumen / Actividad de Ingeniería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38BDF8"/>
                          </a:solidFill>
                          <a:latin typeface="Arial"/>
                        </a:rPr>
                        <a:t>Gasto Real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38BDF8"/>
                          </a:solidFill>
                          <a:latin typeface="Arial"/>
                        </a:rPr>
                        <a:t>En Opus 5.5 Max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</a:tr>
              <a:tr h="424542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1. Prueba de Concepto (PoC)</a:t>
                      </a:r>
                    </a:p>
                  </a:txBody>
                  <a:tcPr anchor="ctr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E2E8F0"/>
                          </a:solidFill>
                          <a:latin typeface="Arial"/>
                        </a:rPr>
                        <a:t>Google AI Studio (Gemini 3.8–3.6 Flash)</a:t>
                      </a:r>
                    </a:p>
                  </a:txBody>
                  <a:tcPr anchor="ctr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E2E8F0"/>
                          </a:solidFill>
                          <a:latin typeface="Arial"/>
                        </a:rPr>
                        <a:t>~45 iteraciones • ~4.2M In / ~0.9M Out tokens</a:t>
                      </a:r>
                    </a:p>
                  </a:txBody>
                  <a:tcPr anchor="ctr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E2E8F0"/>
                          </a:solidFill>
                          <a:latin typeface="Arial"/>
                        </a:rPr>
                        <a:t>$1.17 USD</a:t>
                      </a:r>
                    </a:p>
                  </a:txBody>
                  <a:tcPr anchor="ctr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E2E8F0"/>
                          </a:solidFill>
                          <a:latin typeface="Arial"/>
                        </a:rPr>
                        <a:t>$130.50 USD</a:t>
                      </a:r>
                    </a:p>
                  </a:txBody>
                  <a:tcPr anchor="ctr">
                    <a:solidFill>
                      <a:srgbClr val="111827"/>
                    </a:solidFill>
                  </a:tcPr>
                </a:tc>
              </a:tr>
              <a:tr h="424542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2. Full-Stack y Manuales (Fases 1–7)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E2E8F0"/>
                          </a:solidFill>
                          <a:latin typeface="Arial"/>
                        </a:rPr>
                        <a:t>Google Antigravity (Gemini 3.8 Flash)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E2E8F0"/>
                          </a:solidFill>
                          <a:latin typeface="Arial"/>
                        </a:rPr>
                        <a:t>171 prompts + 16 PDFs • ~38.0M In / ~6.5M Out tokens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E2E8F0"/>
                          </a:solidFill>
                          <a:latin typeface="Arial"/>
                        </a:rPr>
                        <a:t>$9.60 USD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E2E8F0"/>
                          </a:solidFill>
                          <a:latin typeface="Arial"/>
                        </a:rPr>
                        <a:t>$1,057.50 USD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</a:tr>
              <a:tr h="424542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3. Endurecimiento Cloud y Remediación</a:t>
                      </a:r>
                    </a:p>
                  </a:txBody>
                  <a:tcPr anchor="ctr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E2E8F0"/>
                          </a:solidFill>
                          <a:latin typeface="Arial"/>
                        </a:rPr>
                        <a:t>Google Antigravity (Gemini 3.8 Flash)</a:t>
                      </a:r>
                    </a:p>
                  </a:txBody>
                  <a:tcPr anchor="ctr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E2E8F0"/>
                          </a:solidFill>
                          <a:latin typeface="Arial"/>
                        </a:rPr>
                        <a:t>Cloud IAP, 308 tests, 35 controles • ~24.0M In / ~3.8M Out</a:t>
                      </a:r>
                    </a:p>
                  </a:txBody>
                  <a:tcPr anchor="ctr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E2E8F0"/>
                          </a:solidFill>
                          <a:latin typeface="Arial"/>
                        </a:rPr>
                        <a:t>$5.88 USD</a:t>
                      </a:r>
                    </a:p>
                  </a:txBody>
                  <a:tcPr anchor="ctr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E2E8F0"/>
                          </a:solidFill>
                          <a:latin typeface="Arial"/>
                        </a:rPr>
                        <a:t>$645.00 USD</a:t>
                      </a:r>
                    </a:p>
                  </a:txBody>
                  <a:tcPr anchor="ctr">
                    <a:solidFill>
                      <a:srgbClr val="111827"/>
                    </a:solidFill>
                  </a:tcPr>
                </a:tc>
              </a:tr>
              <a:tr h="424542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4. Auto-Auditorías en Vivo y QA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E2E8F0"/>
                          </a:solidFill>
                          <a:latin typeface="Arial"/>
                        </a:rPr>
                        <a:t>Vertex AI (Gemini 3.8 Flash)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E2E8F0"/>
                          </a:solidFill>
                          <a:latin typeface="Arial"/>
                        </a:rPr>
                        <a:t>MULTI-2026-0437, 8983, 0507, 1250 • ~4.8M In / ~0.32M Out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E2E8F0"/>
                          </a:solidFill>
                          <a:latin typeface="Arial"/>
                        </a:rPr>
                        <a:t>$0.91 USD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E2E8F0"/>
                          </a:solidFill>
                          <a:latin typeface="Arial"/>
                        </a:rPr>
                        <a:t>$96.00 USD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</a:tr>
              <a:tr h="424542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5. Infraestructura Google Cloud</a:t>
                      </a:r>
                    </a:p>
                  </a:txBody>
                  <a:tcPr anchor="ctr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E2E8F0"/>
                          </a:solidFill>
                          <a:latin typeface="Arial"/>
                        </a:rPr>
                        <a:t>Cloud Build, Cloud Run, Firestore, IAM</a:t>
                      </a:r>
                    </a:p>
                  </a:txBody>
                  <a:tcPr anchor="ctr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E2E8F0"/>
                          </a:solidFill>
                          <a:latin typeface="Arial"/>
                        </a:rPr>
                        <a:t>9 builds de contenedor, Cloud Run scale-to-zero, aegis-ai-db</a:t>
                      </a:r>
                    </a:p>
                  </a:txBody>
                  <a:tcPr anchor="ctr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E2E8F0"/>
                          </a:solidFill>
                          <a:latin typeface="Arial"/>
                        </a:rPr>
                        <a:t>$1.85 USD</a:t>
                      </a:r>
                    </a:p>
                  </a:txBody>
                  <a:tcPr anchor="ctr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E2E8F0"/>
                          </a:solidFill>
                          <a:latin typeface="Arial"/>
                        </a:rPr>
                        <a:t>$1.85 USD</a:t>
                      </a:r>
                    </a:p>
                  </a:txBody>
                  <a:tcPr anchor="ctr">
                    <a:solidFill>
                      <a:srgbClr val="111827"/>
                    </a:solidFill>
                  </a:tcPr>
                </a:tc>
              </a:tr>
              <a:tr h="424548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INVERSIÓN TOTAL DE CREACIÓN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E2E8F0"/>
                          </a:solidFill>
                          <a:latin typeface="Arial"/>
                        </a:rPr>
                        <a:t>AI Studio + Antigravity + Google Cloud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E2E8F0"/>
                          </a:solidFill>
                          <a:latin typeface="Arial"/>
                        </a:rPr>
                        <a:t>~71.0M Entrada + ~11.52M Salida + Infraestructura Cloud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E2E8F0"/>
                          </a:solidFill>
                          <a:latin typeface="Arial"/>
                        </a:rPr>
                        <a:t>$19.41 USD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E2E8F0"/>
                          </a:solidFill>
                          <a:latin typeface="Arial"/>
                        </a:rPr>
                        <a:t>$1,930.85 USD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82880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Arial"/>
              </a:rPr>
              <a:t>AEGIS</a:t>
            </a:r>
            <a:r>
              <a:rPr sz="1800" b="1">
                <a:solidFill>
                  <a:srgbClr val="60A5FA"/>
                </a:solidFill>
                <a:latin typeface="Arial"/>
              </a:rPr>
              <a:t>AI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691640" y="320040"/>
            <a:ext cx="3108960" cy="292608"/>
          </a:xfrm>
          <a:prstGeom prst="roundRect">
            <a:avLst/>
          </a:prstGeom>
          <a:solidFill>
            <a:srgbClr val="122142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18288" bIns="18288"/>
          <a:lstStyle/>
          <a:p>
            <a:pPr algn="ctr"/>
            <a:r>
              <a:rPr sz="850" b="1">
                <a:solidFill>
                  <a:srgbClr val="60A5FA"/>
                </a:solidFill>
                <a:latin typeface="Arial"/>
              </a:rPr>
              <a:t>GOBERNANZA Y ESTÁNDARES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310896"/>
            <a:ext cx="112471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>
                <a:solidFill>
                  <a:srgbClr val="94A3B8"/>
                </a:solidFill>
                <a:latin typeface="Courier New"/>
              </a:rPr>
              <a:t>10 / 16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94944"/>
            <a:ext cx="11094415" cy="13716"/>
          </a:xfrm>
          <a:prstGeom prst="rect">
            <a:avLst/>
          </a:prstGeom>
          <a:solidFill>
            <a:srgbClr val="2D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6327648"/>
            <a:ext cx="11094415" cy="13716"/>
          </a:xfrm>
          <a:prstGeom prst="rect">
            <a:avLst/>
          </a:prstGeom>
          <a:solidFill>
            <a:srgbClr val="2D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382512"/>
            <a:ext cx="54864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94A3B8"/>
                </a:solidFill>
                <a:latin typeface="Arial"/>
              </a:rPr>
              <a:t>AegisAI Enterprise • Motor de Marcos y Cumplimiento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35040" y="6382512"/>
            <a:ext cx="5608015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94A3B8"/>
                </a:solidFill>
                <a:latin typeface="Arial"/>
              </a:rPr>
              <a:t>Alineado con OWASP AI-SVS v1.0, ISO/IEC 42001:2023, NIST AI RMF y EU AI Act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786384"/>
            <a:ext cx="11094415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50" b="1">
                <a:solidFill>
                  <a:srgbClr val="38BDF8"/>
                </a:solidFill>
                <a:latin typeface="Arial"/>
              </a:rPr>
              <a:t>MATRIZ DE CUMPLIMIENTO</a:t>
            </a:r>
          </a:p>
          <a:p>
            <a:pPr>
              <a:spcBef>
                <a:spcPts val="200"/>
              </a:spcBef>
            </a:pPr>
            <a:r>
              <a:rPr sz="2200" b="1">
                <a:solidFill>
                  <a:srgbClr val="FFFFFF"/>
                </a:solidFill>
                <a:latin typeface="Arial"/>
              </a:rPr>
              <a:t>Soporte Multi-Estándar y Gobernanza AIMS ISO/IEC 42001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94A3B8"/>
                </a:solidFill>
                <a:latin typeface="Arial"/>
              </a:rPr>
              <a:t>Evaluación simultánea de estándares técnicos globales de seguridad en IA, sistemas de gestión y leyes de privacidad.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48640" y="1901952"/>
          <a:ext cx="11094415" cy="3337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2468880"/>
                <a:gridCol w="4876495"/>
                <a:gridCol w="1645920"/>
              </a:tblGrid>
              <a:tr h="667512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38BDF8"/>
                          </a:solidFill>
                          <a:latin typeface="Arial"/>
                        </a:rPr>
                        <a:t>Estándar / Marco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38BDF8"/>
                          </a:solidFill>
                          <a:latin typeface="Arial"/>
                        </a:rPr>
                        <a:t>Alcance Técnico y Gobernanza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38BDF8"/>
                          </a:solidFill>
                          <a:latin typeface="Arial"/>
                        </a:rPr>
                        <a:t>Controles Clave Verificados y Aplicados por AegisAI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38BDF8"/>
                          </a:solidFill>
                          <a:latin typeface="Arial"/>
                        </a:rPr>
                        <a:t>Nivel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</a:tr>
              <a:tr h="667512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OWASP AI-SVS v1.0</a:t>
                      </a:r>
                    </a:p>
                  </a:txBody>
                  <a:tcPr anchor="ctr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E2E8F0"/>
                          </a:solidFill>
                          <a:latin typeface="Arial"/>
                        </a:rPr>
                        <a:t>Estándar de Verificación de Seguridad en IA (12 Capítulos)</a:t>
                      </a:r>
                    </a:p>
                  </a:txBody>
                  <a:tcPr anchor="ctr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E2E8F0"/>
                          </a:solidFill>
                          <a:latin typeface="Arial"/>
                        </a:rPr>
                        <a:t>C01.4 Manifiesto SHA-256, C02.10 Guardia Crescendo, C04.1 Contenedor Read-Only, C04.3 Cloud IAP y Bloqueo SSRF, C05.2–C05.4 Auth en Tiempo Constante e IAM, C08.1/C08.4 ACLs RAG, C09.4 Sagas, C10.1–C10.5 Seguridad MCP, C11.1/C11.4 Anti-DoW y Logprobs Off, C12.2 Alertas SIEM.</a:t>
                      </a:r>
                    </a:p>
                  </a:txBody>
                  <a:tcPr anchor="ctr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E2E8F0"/>
                          </a:solidFill>
                          <a:latin typeface="Arial"/>
                        </a:rPr>
                        <a:t>L1 / L2 / L3 Listo</a:t>
                      </a:r>
                    </a:p>
                  </a:txBody>
                  <a:tcPr anchor="ctr">
                    <a:solidFill>
                      <a:srgbClr val="111827"/>
                    </a:solidFill>
                  </a:tcPr>
                </a:tc>
              </a:tr>
              <a:tr h="667512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ISO/IEC 42001:2023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E2E8F0"/>
                          </a:solidFill>
                          <a:latin typeface="Arial"/>
                        </a:rPr>
                        <a:t>Sistema de Gestión de IA (AIMS Cláusulas 4–10 y Anexo A)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E2E8F0"/>
                          </a:solidFill>
                          <a:latin typeface="Arial"/>
                        </a:rPr>
                        <a:t>Cláusula 4.1/4.2 Contexto y Stakeholders, Cláusula 5/A.2.1/A.2.3 Política Corporativa IA, Cláusula 7/A.3.3 Competencia y Canal Ético, A.4.1 Inventario IA, A.5.1–A.5.3 Evaluación de Impacto y Apelación Humana, Cláusula 9 KPIs y Auditoría Interna, A.9.1/A.9.2 Uso Aceptable.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E2E8F0"/>
                          </a:solidFill>
                          <a:latin typeface="Arial"/>
                        </a:rPr>
                        <a:t>Certificación Lista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</a:tr>
              <a:tr h="667512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Regulación Mexicana (2026)</a:t>
                      </a:r>
                    </a:p>
                  </a:txBody>
                  <a:tcPr anchor="ctr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E2E8F0"/>
                          </a:solidFill>
                          <a:latin typeface="Arial"/>
                        </a:rPr>
                        <a:t>Protección al Consumidor (LFPC) y Datos Personales (LFPDPPP)</a:t>
                      </a:r>
                    </a:p>
                  </a:txBody>
                  <a:tcPr anchor="ctr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E2E8F0"/>
                          </a:solidFill>
                          <a:latin typeface="Arial"/>
                        </a:rPr>
                        <a:t>Transparencia algorítmica, prevención de patrones oscuros, retracto de 5 días (Art. 56 LFPC), purga en cascada ARCO y enmascaramiento DLP.</a:t>
                      </a:r>
                    </a:p>
                  </a:txBody>
                  <a:tcPr anchor="ctr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E2E8F0"/>
                          </a:solidFill>
                          <a:latin typeface="Arial"/>
                        </a:rPr>
                        <a:t>Estatutario Local</a:t>
                      </a:r>
                    </a:p>
                  </a:txBody>
                  <a:tcPr anchor="ctr">
                    <a:solidFill>
                      <a:srgbClr val="111827"/>
                    </a:solidFill>
                  </a:tcPr>
                </a:tc>
              </a:tr>
              <a:tr h="667512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Marco BYOF Personalizado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E2E8F0"/>
                          </a:solidFill>
                          <a:latin typeface="Arial"/>
                        </a:rPr>
                        <a:t>Bring Your Own Framework (Multi-Inquilino)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E2E8F0"/>
                          </a:solidFill>
                          <a:latin typeface="Arial"/>
                        </a:rPr>
                        <a:t>Ingesta autenticada por administrador (C05.3) con verificación SHA-256 (C01.4) y pre-filtrado ACL por dominio de inquilino (allowedDomains, C08.1).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E2E8F0"/>
                          </a:solidFill>
                          <a:latin typeface="Arial"/>
                        </a:rPr>
                        <a:t>Aislado por Tenant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</a:tr>
            </a:tbl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548640" y="5376672"/>
            <a:ext cx="11094415" cy="786384"/>
          </a:xfrm>
          <a:prstGeom prst="roundRect">
            <a:avLst>
              <a:gd name="adj" fmla="val 4000"/>
            </a:avLst>
          </a:prstGeom>
          <a:solidFill>
            <a:srgbClr val="111827"/>
          </a:solidFill>
          <a:ln w="15875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28016" bIns="109728"/>
          <a:lstStyle/>
          <a:p>
            <a:pPr algn="ctr"/>
            <a:r>
              <a:rPr sz="919">
                <a:solidFill>
                  <a:srgbClr val="E2E8F0"/>
                </a:solidFill>
                <a:latin typeface="Arial"/>
              </a:rPr>
              <a:t>Motor Map-Reduce Cruzado sin Colisiones: Evalúa más de 103 controles combinados de OWASP AI-SVS e ISO/IEC 42001 en lotes paralelos usando enums de capítulo restringidos para que las Cláusulas 9/10 y Anexo A.9/A.10 jamás colisionen con C09/C10.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82880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Arial"/>
              </a:rPr>
              <a:t>AEGIS</a:t>
            </a:r>
            <a:r>
              <a:rPr sz="1800" b="1">
                <a:solidFill>
                  <a:srgbClr val="60A5FA"/>
                </a:solidFill>
                <a:latin typeface="Arial"/>
              </a:rPr>
              <a:t>AI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691640" y="320040"/>
            <a:ext cx="3108960" cy="292608"/>
          </a:xfrm>
          <a:prstGeom prst="roundRect">
            <a:avLst/>
          </a:prstGeom>
          <a:solidFill>
            <a:srgbClr val="122142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18288" bIns="18288"/>
          <a:lstStyle/>
          <a:p>
            <a:pPr algn="ctr"/>
            <a:r>
              <a:rPr sz="850" b="1">
                <a:solidFill>
                  <a:srgbClr val="60A5FA"/>
                </a:solidFill>
                <a:latin typeface="Arial"/>
              </a:rPr>
              <a:t>INGENIERÍA DEL SISTEMA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310896"/>
            <a:ext cx="112471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>
                <a:solidFill>
                  <a:srgbClr val="94A3B8"/>
                </a:solidFill>
                <a:latin typeface="Courier New"/>
              </a:rPr>
              <a:t>11 / 16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94944"/>
            <a:ext cx="11094415" cy="13716"/>
          </a:xfrm>
          <a:prstGeom prst="rect">
            <a:avLst/>
          </a:prstGeom>
          <a:solidFill>
            <a:srgbClr val="2D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6327648"/>
            <a:ext cx="11094415" cy="13716"/>
          </a:xfrm>
          <a:prstGeom prst="rect">
            <a:avLst/>
          </a:prstGeom>
          <a:solidFill>
            <a:srgbClr val="2D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382512"/>
            <a:ext cx="54864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94A3B8"/>
                </a:solidFill>
                <a:latin typeface="Arial"/>
              </a:rPr>
              <a:t>AegisAI Enterprise • Arquitectura C4 y Seguridad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35040" y="6382512"/>
            <a:ext cx="5608015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94A3B8"/>
                </a:solidFill>
                <a:latin typeface="Arial"/>
              </a:rPr>
              <a:t>Desplegado en Google Cloud Run (Revisión aegis-ai-00013)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786384"/>
            <a:ext cx="11094415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50" b="1">
                <a:solidFill>
                  <a:srgbClr val="38BDF8"/>
                </a:solidFill>
                <a:latin typeface="Arial"/>
              </a:rPr>
              <a:t>ARQUITECTURA DE SOFTWARE</a:t>
            </a:r>
          </a:p>
          <a:p>
            <a:pPr>
              <a:spcBef>
                <a:spcPts val="200"/>
              </a:spcBef>
            </a:pPr>
            <a:r>
              <a:rPr sz="2200" b="1">
                <a:solidFill>
                  <a:srgbClr val="FFFFFF"/>
                </a:solidFill>
                <a:latin typeface="Arial"/>
              </a:rPr>
              <a:t>Arquitectura Zero-Trust de 4 Capas y Defensa en Profundidad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94A3B8"/>
                </a:solidFill>
                <a:latin typeface="Arial"/>
              </a:rPr>
              <a:t>Arquitectura serverless endurecida en Google Cloud Run detrás de Identity-Aware Proxy (IAP) con inferencia Vertex AI ADC sin llaves API.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938528"/>
            <a:ext cx="2633472" cy="3246120"/>
          </a:xfrm>
          <a:prstGeom prst="roundRect">
            <a:avLst>
              <a:gd name="adj" fmla="val 4000"/>
            </a:avLst>
          </a:prstGeom>
          <a:solidFill>
            <a:srgbClr val="111827"/>
          </a:solidFill>
          <a:ln w="15875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28016" bIns="109728"/>
          <a:lstStyle/>
          <a:p>
            <a:pPr algn="ctr"/>
            <a:r>
              <a:rPr sz="1250" b="1">
                <a:solidFill>
                  <a:srgbClr val="38BDF8"/>
                </a:solidFill>
                <a:latin typeface="Arial"/>
              </a:rPr>
              <a:t>1. Perímetro y SPA</a:t>
            </a:r>
          </a:p>
          <a:p>
            <a:pPr>
              <a:spcBef>
                <a:spcPts val="400"/>
              </a:spcBef>
            </a:pPr>
            <a:r>
              <a:rPr sz="930">
                <a:solidFill>
                  <a:srgbClr val="E2E8F0"/>
                </a:solidFill>
                <a:latin typeface="Arial"/>
              </a:rPr>
              <a:t>• Cloud IAP (--no-allow-unauthenticated)</a:t>
            </a:r>
          </a:p>
          <a:p>
            <a:pPr>
              <a:spcBef>
                <a:spcPts val="400"/>
              </a:spcBef>
            </a:pPr>
            <a:r>
              <a:rPr sz="930">
                <a:solidFill>
                  <a:srgbClr val="E2E8F0"/>
                </a:solidFill>
                <a:latin typeface="Arial"/>
              </a:rPr>
              <a:t>• React 19 + TS + Vite</a:t>
            </a:r>
          </a:p>
          <a:p>
            <a:pPr>
              <a:spcBef>
                <a:spcPts val="400"/>
              </a:spcBef>
            </a:pPr>
            <a:r>
              <a:rPr sz="930">
                <a:solidFill>
                  <a:srgbClr val="E2E8F0"/>
                </a:solidFill>
                <a:latin typeface="Arial"/>
              </a:rPr>
              <a:t>• Lista blanca OAuth 2.0 en Firebase Auth (google.com, altostrat.com)</a:t>
            </a:r>
          </a:p>
          <a:p>
            <a:pPr>
              <a:spcBef>
                <a:spcPts val="400"/>
              </a:spcBef>
            </a:pPr>
            <a:r>
              <a:rPr sz="930">
                <a:solidFill>
                  <a:srgbClr val="E2E8F0"/>
                </a:solidFill>
                <a:latin typeface="Arial"/>
              </a:rPr>
              <a:t>• Avisos visibles ISO 42001 de Política, Apelación (A.5.2) y Canal Ético (A.3.3)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64992" y="1938528"/>
            <a:ext cx="2633472" cy="3246120"/>
          </a:xfrm>
          <a:prstGeom prst="roundRect">
            <a:avLst>
              <a:gd name="adj" fmla="val 4000"/>
            </a:avLst>
          </a:prstGeom>
          <a:solidFill>
            <a:srgbClr val="111827"/>
          </a:solidFill>
          <a:ln w="15875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28016" bIns="109728"/>
          <a:lstStyle/>
          <a:p>
            <a:pPr algn="ctr"/>
            <a:r>
              <a:rPr sz="1250" b="1">
                <a:solidFill>
                  <a:srgbClr val="60A5FA"/>
                </a:solidFill>
                <a:latin typeface="Arial"/>
              </a:rPr>
              <a:t>2. API Endurecida y Model Armor</a:t>
            </a:r>
          </a:p>
          <a:p>
            <a:pPr>
              <a:spcBef>
                <a:spcPts val="400"/>
              </a:spcBef>
            </a:pPr>
            <a:r>
              <a:rPr sz="930">
                <a:solidFill>
                  <a:srgbClr val="E2E8F0"/>
                </a:solidFill>
                <a:latin typeface="Arial"/>
              </a:rPr>
              <a:t>• Contenedor Read-Only (chmod -R a-w /app, C04.1)</a:t>
            </a:r>
          </a:p>
          <a:p>
            <a:pPr>
              <a:spcBef>
                <a:spcPts val="400"/>
              </a:spcBef>
            </a:pPr>
            <a:r>
              <a:rPr sz="930">
                <a:solidFill>
                  <a:srgbClr val="E2E8F0"/>
                </a:solidFill>
                <a:latin typeface="Arial"/>
              </a:rPr>
              <a:t>• Google Cloud Model Armor sanitizando entradas/salidas en línea</a:t>
            </a:r>
          </a:p>
          <a:p>
            <a:pPr>
              <a:spcBef>
                <a:spcPts val="400"/>
              </a:spcBef>
            </a:pPr>
            <a:r>
              <a:rPr sz="930">
                <a:solidFill>
                  <a:srgbClr val="E2E8F0"/>
                </a:solidFill>
                <a:latin typeface="Arial"/>
              </a:rPr>
              <a:t>• Tokens en tiempo constante (crypto.timingSafeEqual, C05.3)</a:t>
            </a:r>
          </a:p>
          <a:p>
            <a:pPr>
              <a:spcBef>
                <a:spcPts val="400"/>
              </a:spcBef>
            </a:pPr>
            <a:r>
              <a:rPr sz="930">
                <a:solidFill>
                  <a:srgbClr val="E2E8F0"/>
                </a:solidFill>
                <a:latin typeface="Arial"/>
              </a:rPr>
              <a:t>• Guardia DNS Rebinding (C10.5) y Firma MCP (C10.1)</a:t>
            </a:r>
          </a:p>
          <a:p>
            <a:pPr>
              <a:spcBef>
                <a:spcPts val="400"/>
              </a:spcBef>
            </a:pPr>
            <a:r>
              <a:rPr sz="930">
                <a:solidFill>
                  <a:srgbClr val="E2E8F0"/>
                </a:solidFill>
                <a:latin typeface="Arial"/>
              </a:rPr>
              <a:t>• Cuotas Anti-DoW (C11.1)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81344" y="1938528"/>
            <a:ext cx="2633472" cy="3246120"/>
          </a:xfrm>
          <a:prstGeom prst="roundRect">
            <a:avLst>
              <a:gd name="adj" fmla="val 4000"/>
            </a:avLst>
          </a:prstGeom>
          <a:solidFill>
            <a:srgbClr val="111827"/>
          </a:solidFill>
          <a:ln w="15875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28016" bIns="109728"/>
          <a:lstStyle/>
          <a:p>
            <a:pPr algn="ctr"/>
            <a:r>
              <a:rPr sz="1250" b="1">
                <a:solidFill>
                  <a:srgbClr val="34D399"/>
                </a:solidFill>
                <a:latin typeface="Arial"/>
              </a:rPr>
              <a:t>3. Vertex AI ADC y Multi-LLM</a:t>
            </a:r>
          </a:p>
          <a:p>
            <a:pPr>
              <a:spcBef>
                <a:spcPts val="400"/>
              </a:spcBef>
            </a:pPr>
            <a:r>
              <a:rPr sz="930">
                <a:solidFill>
                  <a:srgbClr val="E2E8F0"/>
                </a:solidFill>
                <a:latin typeface="Arial"/>
              </a:rPr>
              <a:t>• Vertex AI (gemini-3.8-flash) vía IAM ADC sin requerir llave API Gemini</a:t>
            </a:r>
          </a:p>
          <a:p>
            <a:pPr>
              <a:spcBef>
                <a:spcPts val="400"/>
              </a:spcBef>
            </a:pPr>
            <a:r>
              <a:rPr sz="930">
                <a:solidFill>
                  <a:srgbClr val="E2E8F0"/>
                </a:solidFill>
                <a:latin typeface="Arial"/>
              </a:rPr>
              <a:t>• Model Garden / Model Registry con modelos firmados (C01.4)</a:t>
            </a:r>
          </a:p>
          <a:p>
            <a:pPr>
              <a:spcBef>
                <a:spcPts val="400"/>
              </a:spcBef>
            </a:pPr>
            <a:r>
              <a:rPr sz="930">
                <a:solidFill>
                  <a:srgbClr val="E2E8F0"/>
                </a:solidFill>
                <a:latin typeface="Arial"/>
              </a:rPr>
              <a:t>• Motor Multi-Proveedor (Claude, OpenRouter, OpenAI, Local Proxy)</a:t>
            </a:r>
          </a:p>
          <a:p>
            <a:pPr>
              <a:spcBef>
                <a:spcPts val="400"/>
              </a:spcBef>
            </a:pPr>
            <a:r>
              <a:rPr sz="930">
                <a:solidFill>
                  <a:srgbClr val="E2E8F0"/>
                </a:solidFill>
                <a:latin typeface="Arial"/>
              </a:rPr>
              <a:t>• Detector Multi-Turno Crescendo (C02.10) y Logprobs Off (C11.4)</a:t>
            </a:r>
          </a:p>
          <a:p>
            <a:pPr>
              <a:spcBef>
                <a:spcPts val="400"/>
              </a:spcBef>
            </a:pPr>
            <a:r>
              <a:rPr sz="930">
                <a:solidFill>
                  <a:srgbClr val="E2E8F0"/>
                </a:solidFill>
                <a:latin typeface="Arial"/>
              </a:rPr>
              <a:t>• Bloqueo SSRF/IMDS (C04.3)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006840" y="1938528"/>
            <a:ext cx="2633472" cy="3246120"/>
          </a:xfrm>
          <a:prstGeom prst="roundRect">
            <a:avLst>
              <a:gd name="adj" fmla="val 4000"/>
            </a:avLst>
          </a:prstGeom>
          <a:solidFill>
            <a:srgbClr val="111827"/>
          </a:solidFill>
          <a:ln w="15875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28016" bIns="109728"/>
          <a:lstStyle/>
          <a:p>
            <a:pPr algn="ctr"/>
            <a:r>
              <a:rPr sz="1250" b="1">
                <a:solidFill>
                  <a:srgbClr val="D8B4FE"/>
                </a:solidFill>
                <a:latin typeface="Arial"/>
              </a:rPr>
              <a:t>4. Datos, AutoSxS y SCC AI</a:t>
            </a:r>
          </a:p>
          <a:p>
            <a:pPr>
              <a:spcBef>
                <a:spcPts val="400"/>
              </a:spcBef>
            </a:pPr>
            <a:r>
              <a:rPr sz="930">
                <a:solidFill>
                  <a:srgbClr val="E2E8F0"/>
                </a:solidFill>
                <a:latin typeface="Arial"/>
              </a:rPr>
              <a:t>• Cloud Firestore (aegis-ai-db) vía Admin SDK (308/308 pruebas)</a:t>
            </a:r>
          </a:p>
          <a:p>
            <a:pPr>
              <a:spcBef>
                <a:spcPts val="400"/>
              </a:spcBef>
            </a:pPr>
            <a:r>
              <a:rPr sz="930">
                <a:solidFill>
                  <a:srgbClr val="E2E8F0"/>
                </a:solidFill>
                <a:latin typeface="Arial"/>
              </a:rPr>
              <a:t>• Vertex Evaluation Service (AutoSxS) y Model Monitoring (skew/drift)</a:t>
            </a:r>
          </a:p>
          <a:p>
            <a:pPr>
              <a:spcBef>
                <a:spcPts val="400"/>
              </a:spcBef>
            </a:pPr>
            <a:r>
              <a:rPr sz="930">
                <a:solidFill>
                  <a:srgbClr val="E2E8F0"/>
                </a:solidFill>
                <a:latin typeface="Arial"/>
              </a:rPr>
              <a:t>• Security Command Center (SCC) AI Protection con alertas SOC en tiempo real</a:t>
            </a:r>
          </a:p>
          <a:p>
            <a:pPr>
              <a:spcBef>
                <a:spcPts val="400"/>
              </a:spcBef>
            </a:pPr>
            <a:r>
              <a:rPr sz="930">
                <a:solidFill>
                  <a:srgbClr val="E2E8F0"/>
                </a:solidFill>
                <a:latin typeface="Arial"/>
              </a:rPr>
              <a:t>• Manifiesto SHA-256 (C01.4) y Sagas Compensatorias (C09.4)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5321808"/>
            <a:ext cx="11094415" cy="841248"/>
          </a:xfrm>
          <a:prstGeom prst="roundRect">
            <a:avLst>
              <a:gd name="adj" fmla="val 4000"/>
            </a:avLst>
          </a:prstGeom>
          <a:solidFill>
            <a:srgbClr val="111827"/>
          </a:solidFill>
          <a:ln w="15875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28016" bIns="109728"/>
          <a:lstStyle/>
          <a:p>
            <a:pPr algn="ctr"/>
            <a:r>
              <a:rPr sz="930">
                <a:solidFill>
                  <a:srgbClr val="E2E8F0"/>
                </a:solidFill>
                <a:latin typeface="Arial"/>
              </a:rPr>
              <a:t>Aislamiento Zero-Trust y Alertas SCC AI (C12.2): El estado dinámico se guarda exclusivamente en Firestore (system_config/admin_settings) y /tmp/aegis-runtime-cache. Cada intento de inyección de prompts emite una alerta en tiempo real hacia SCC AI Protection para respuesta inmediata del SOC.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82880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Arial"/>
              </a:rPr>
              <a:t>AEGIS</a:t>
            </a:r>
            <a:r>
              <a:rPr sz="1800" b="1">
                <a:solidFill>
                  <a:srgbClr val="60A5FA"/>
                </a:solidFill>
                <a:latin typeface="Arial"/>
              </a:rPr>
              <a:t>AI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691640" y="320040"/>
            <a:ext cx="3108960" cy="292608"/>
          </a:xfrm>
          <a:prstGeom prst="roundRect">
            <a:avLst/>
          </a:prstGeom>
          <a:solidFill>
            <a:srgbClr val="122142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18288" bIns="18288"/>
          <a:lstStyle/>
          <a:p>
            <a:pPr algn="ctr"/>
            <a:r>
              <a:rPr sz="850" b="1">
                <a:solidFill>
                  <a:srgbClr val="60A5FA"/>
                </a:solidFill>
                <a:latin typeface="Arial"/>
              </a:rPr>
              <a:t>PROTECCIÓN IA EN GOOGLE CLOUD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310896"/>
            <a:ext cx="112471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>
                <a:solidFill>
                  <a:srgbClr val="94A3B8"/>
                </a:solidFill>
                <a:latin typeface="Courier New"/>
              </a:rPr>
              <a:t>12 / 16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94944"/>
            <a:ext cx="11094415" cy="13716"/>
          </a:xfrm>
          <a:prstGeom prst="rect">
            <a:avLst/>
          </a:prstGeom>
          <a:solidFill>
            <a:srgbClr val="2D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6327648"/>
            <a:ext cx="11094415" cy="13716"/>
          </a:xfrm>
          <a:prstGeom prst="rect">
            <a:avLst/>
          </a:prstGeom>
          <a:solidFill>
            <a:srgbClr val="2D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382512"/>
            <a:ext cx="54864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94A3B8"/>
                </a:solidFill>
                <a:latin typeface="Arial"/>
              </a:rPr>
              <a:t>AegisAI Enterprise • Stack de Protección ISO/IEC 42001 (Fases 3, 4 y 5)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35040" y="6382512"/>
            <a:ext cx="5608015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94A3B8"/>
                </a:solidFill>
                <a:latin typeface="Arial"/>
              </a:rPr>
              <a:t>Model Garden/Registry • Model Armor • Vertex Evaluation (AutoSxS) • Model Monitoring • SCC con Protección AI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786384"/>
            <a:ext cx="11094415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50" b="1">
                <a:solidFill>
                  <a:srgbClr val="38BDF8"/>
                </a:solidFill>
                <a:latin typeface="Arial"/>
              </a:rPr>
              <a:t>CICLO DE VIDA DE PROTECCIÓN IA EN GOOGLE CLOUD (ISO 42001)</a:t>
            </a:r>
          </a:p>
          <a:p>
            <a:pPr>
              <a:spcBef>
                <a:spcPts val="200"/>
              </a:spcBef>
            </a:pPr>
            <a:r>
              <a:rPr sz="2200" b="1">
                <a:solidFill>
                  <a:srgbClr val="FFFFFF"/>
                </a:solidFill>
                <a:latin typeface="Arial"/>
              </a:rPr>
              <a:t>5 Productos Nativos de Seguridad y Gobernanza en las Fases 3, 4 y 5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94A3B8"/>
                </a:solidFill>
                <a:latin typeface="Arial"/>
              </a:rPr>
              <a:t>Cómo AegisAI operacionaliza ISO/IEC 42001:2023 y OWASP AI-SVS v1.0 en Desarrollo, Evaluación y Despliegue Controlado en Producción.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938528"/>
            <a:ext cx="3547872" cy="3246120"/>
          </a:xfrm>
          <a:prstGeom prst="roundRect">
            <a:avLst>
              <a:gd name="adj" fmla="val 4000"/>
            </a:avLst>
          </a:prstGeom>
          <a:solidFill>
            <a:srgbClr val="122142"/>
          </a:solidFill>
          <a:ln w="15875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28016" bIns="109728"/>
          <a:lstStyle/>
          <a:p>
            <a:pPr algn="ctr"/>
            <a:r>
              <a:rPr sz="800" b="1">
                <a:solidFill>
                  <a:srgbClr val="38BDF8"/>
                </a:solidFill>
                <a:latin typeface="Arial"/>
              </a:rPr>
              <a:t>FASE 3 • DISEÑO Y PROTECCIÓN</a:t>
            </a:r>
          </a:p>
          <a:p>
            <a:pPr>
              <a:spcBef>
                <a:spcPts val="300"/>
              </a:spcBef>
            </a:pPr>
            <a:r>
              <a:rPr sz="1250" b="1">
                <a:solidFill>
                  <a:srgbClr val="38BDF8"/>
                </a:solidFill>
                <a:latin typeface="Arial"/>
              </a:rPr>
              <a:t>Fase 3: Desarrollo y Protecciones</a:t>
            </a:r>
          </a:p>
          <a:p>
            <a:pPr>
              <a:spcBef>
                <a:spcPts val="400"/>
              </a:spcBef>
            </a:pPr>
            <a:r>
              <a:rPr sz="860">
                <a:solidFill>
                  <a:srgbClr val="E2E8F0"/>
                </a:solidFill>
                <a:latin typeface="Arial"/>
              </a:rPr>
              <a:t>Objetivo: Diseño de sistemas AI, desarrollo y cadena de suministro.</a:t>
            </a:r>
          </a:p>
          <a:p>
            <a:pPr>
              <a:spcBef>
                <a:spcPts val="400"/>
              </a:spcBef>
            </a:pPr>
            <a:r>
              <a:rPr sz="860">
                <a:solidFill>
                  <a:srgbClr val="E2E8F0"/>
                </a:solidFill>
                <a:latin typeface="Arial"/>
              </a:rPr>
              <a:t>• Mapa Visual de Brechas: Genera un mapa visual y basado en evidencia de las brechas entre el estado actual y el deseado (L1/L2/L3).</a:t>
            </a:r>
          </a:p>
          <a:p>
            <a:pPr>
              <a:spcBef>
                <a:spcPts val="400"/>
              </a:spcBef>
            </a:pPr>
            <a:r>
              <a:rPr sz="860">
                <a:solidFill>
                  <a:srgbClr val="E2E8F0"/>
                </a:solidFill>
                <a:latin typeface="Arial"/>
              </a:rPr>
              <a:t>• Model Garden / Model Registry: Librería de modelos revisados (Garden) y modelos personales (Registry). Modelos firmados y verificados por Google y socios, evitando modelos de Internet con posibles puertas traseras (ISO A.6.1.2 / A.7.3, C01.4).</a:t>
            </a:r>
          </a:p>
          <a:p>
            <a:pPr>
              <a:spcBef>
                <a:spcPts val="400"/>
              </a:spcBef>
            </a:pPr>
            <a:r>
              <a:rPr sz="860">
                <a:solidFill>
                  <a:srgbClr val="E2E8F0"/>
                </a:solidFill>
                <a:latin typeface="Arial"/>
              </a:rPr>
              <a:t>• Model Armor: Se posiciona delante de los LLM. Sanitiza entradas y salidas en tiempo real, bloquea inyección de prompts y jailbreaks, y filtra contenido tóxico del usuario y respuestas por igual (ISO A.6.2.6, C02.10).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15968" y="1938528"/>
            <a:ext cx="3547872" cy="3246120"/>
          </a:xfrm>
          <a:prstGeom prst="roundRect">
            <a:avLst>
              <a:gd name="adj" fmla="val 4000"/>
            </a:avLst>
          </a:prstGeom>
          <a:solidFill>
            <a:srgbClr val="261840"/>
          </a:solidFill>
          <a:ln w="15875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28016" bIns="109728"/>
          <a:lstStyle/>
          <a:p>
            <a:pPr algn="ctr"/>
            <a:r>
              <a:rPr sz="800" b="1">
                <a:solidFill>
                  <a:srgbClr val="D8B4FE"/>
                </a:solidFill>
                <a:latin typeface="Arial"/>
              </a:rPr>
              <a:t>FASE 4 • EVALUACIÓN</a:t>
            </a:r>
          </a:p>
          <a:p>
            <a:pPr>
              <a:spcBef>
                <a:spcPts val="300"/>
              </a:spcBef>
            </a:pPr>
            <a:r>
              <a:rPr sz="1250" b="1">
                <a:solidFill>
                  <a:srgbClr val="D8B4FE"/>
                </a:solidFill>
                <a:latin typeface="Arial"/>
              </a:rPr>
              <a:t>Fase 4: Evaluación de Controles</a:t>
            </a:r>
          </a:p>
          <a:p>
            <a:pPr>
              <a:spcBef>
                <a:spcPts val="400"/>
              </a:spcBef>
            </a:pPr>
            <a:r>
              <a:rPr sz="860">
                <a:solidFill>
                  <a:srgbClr val="E2E8F0"/>
                </a:solidFill>
                <a:latin typeface="Arial"/>
              </a:rPr>
              <a:t>Objetivo: Revisión automatizada de los controles aplicados.</a:t>
            </a:r>
          </a:p>
          <a:p>
            <a:pPr>
              <a:spcBef>
                <a:spcPts val="400"/>
              </a:spcBef>
            </a:pPr>
            <a:r>
              <a:rPr sz="860">
                <a:solidFill>
                  <a:srgbClr val="E2E8F0"/>
                </a:solidFill>
                <a:latin typeface="Arial"/>
              </a:rPr>
              <a:t>• Vertex Evaluation Service (AutoSxS): Marco integrado en Vertex AI que utiliza AutoSxS (categoriza y califica respuestas automáticamente como un maestro calificando la tarea de un alumno).</a:t>
            </a:r>
          </a:p>
          <a:p>
            <a:pPr>
              <a:spcBef>
                <a:spcPts val="400"/>
              </a:spcBef>
            </a:pPr>
            <a:r>
              <a:rPr sz="860">
                <a:solidFill>
                  <a:srgbClr val="E2E8F0"/>
                </a:solidFill>
                <a:latin typeface="Arial"/>
              </a:rPr>
              <a:t>• Métricas de Seguridad: Evalúa discurso de odio, acoso, contenido sexualmente explícito y contenido peligroso.</a:t>
            </a:r>
          </a:p>
          <a:p>
            <a:pPr>
              <a:spcBef>
                <a:spcPts val="400"/>
              </a:spcBef>
            </a:pPr>
            <a:r>
              <a:rPr sz="860">
                <a:solidFill>
                  <a:srgbClr val="E2E8F0"/>
                </a:solidFill>
                <a:latin typeface="Arial"/>
              </a:rPr>
              <a:t>• Pista de Auditoría ISO 42001: Más rápido y económico que la revisión manual por especialistas, proporcionando la pista de auditoría exigida por ISO/IEC 42001 Cláusula 9.1 y A.6.2.4 (OWASP C08.4).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92440" y="1938528"/>
            <a:ext cx="3547872" cy="3246120"/>
          </a:xfrm>
          <a:prstGeom prst="roundRect">
            <a:avLst>
              <a:gd name="adj" fmla="val 4000"/>
            </a:avLst>
          </a:prstGeom>
          <a:solidFill>
            <a:srgbClr val="0B2E2B"/>
          </a:solidFill>
          <a:ln w="15875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28016" bIns="109728"/>
          <a:lstStyle/>
          <a:p>
            <a:pPr algn="ctr"/>
            <a:r>
              <a:rPr sz="800" b="1">
                <a:solidFill>
                  <a:srgbClr val="34D399"/>
                </a:solidFill>
                <a:latin typeface="Arial"/>
              </a:rPr>
              <a:t>FASE 5 • DESPLIEGUE</a:t>
            </a:r>
          </a:p>
          <a:p>
            <a:pPr>
              <a:spcBef>
                <a:spcPts val="300"/>
              </a:spcBef>
            </a:pPr>
            <a:r>
              <a:rPr sz="1250" b="1">
                <a:solidFill>
                  <a:srgbClr val="34D399"/>
                </a:solidFill>
                <a:latin typeface="Arial"/>
              </a:rPr>
              <a:t>Fase 5: Despliegue Controlado</a:t>
            </a:r>
          </a:p>
          <a:p>
            <a:pPr>
              <a:spcBef>
                <a:spcPts val="400"/>
              </a:spcBef>
            </a:pPr>
            <a:r>
              <a:rPr sz="860">
                <a:solidFill>
                  <a:srgbClr val="E2E8F0"/>
                </a:solidFill>
                <a:latin typeface="Arial"/>
              </a:rPr>
              <a:t>Objetivo: Despliegue controlado en producción y respuesta SOC.</a:t>
            </a:r>
          </a:p>
          <a:p>
            <a:pPr>
              <a:spcBef>
                <a:spcPts val="400"/>
              </a:spcBef>
            </a:pPr>
            <a:r>
              <a:rPr sz="860">
                <a:solidFill>
                  <a:srgbClr val="E2E8F0"/>
                </a:solidFill>
                <a:latin typeface="Arial"/>
              </a:rPr>
              <a:t>• Vertex AI Model Monitoring: Evalúa el rendimiento en producción detectando sesgo entrenamiento-producción (training-serving skew) y deriva (drift, cuando el mundo cambia y el modelo queda obsoleto), alertando de inmediato si deja de operar con seguridad (ISO Cláusula 9.1 / A.6.2.6).</a:t>
            </a:r>
          </a:p>
          <a:p>
            <a:pPr>
              <a:spcBef>
                <a:spcPts val="400"/>
              </a:spcBef>
            </a:pPr>
            <a:r>
              <a:rPr sz="860">
                <a:solidFill>
                  <a:srgbClr val="E2E8F0"/>
                </a:solidFill>
                <a:latin typeface="Arial"/>
              </a:rPr>
              <a:t>• Security Command Center (SCC) con Protección AI: Detección de amenazas y vulnerabilidades integrada con Vertex AI. Si alguien envía una inyección de prompts, aparece como alerta en tiempo real para que el SOC responda a tiempo (ISO A.6.2.8 / C12.2).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5321808"/>
            <a:ext cx="11094415" cy="841248"/>
          </a:xfrm>
          <a:prstGeom prst="roundRect">
            <a:avLst>
              <a:gd name="adj" fmla="val 4000"/>
            </a:avLst>
          </a:prstGeom>
          <a:solidFill>
            <a:srgbClr val="111827"/>
          </a:solidFill>
          <a:ln w="15875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28016" bIns="109728"/>
          <a:lstStyle/>
          <a:p>
            <a:pPr algn="ctr"/>
            <a:r>
              <a:rPr sz="910">
                <a:solidFill>
                  <a:srgbClr val="E2E8F0"/>
                </a:solidFill>
                <a:latin typeface="Arial"/>
              </a:rPr>
              <a:t>Integración en Escáner GCP en Vivo y Blueprint Remediado: El Escáner GCP en Vivo de AegisAI audita estos 5 servicios con tokens efímeros de solo lectura, y la Sección 3.4 de cada Arquitectura Remediada genera recetas Terraform/TypeScript listas para producción en las 3 fases.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82880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Arial"/>
              </a:rPr>
              <a:t>AEGIS</a:t>
            </a:r>
            <a:r>
              <a:rPr sz="1800" b="1">
                <a:solidFill>
                  <a:srgbClr val="60A5FA"/>
                </a:solidFill>
                <a:latin typeface="Arial"/>
              </a:rPr>
              <a:t>AI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691640" y="320040"/>
            <a:ext cx="3108960" cy="292608"/>
          </a:xfrm>
          <a:prstGeom prst="roundRect">
            <a:avLst/>
          </a:prstGeom>
          <a:solidFill>
            <a:srgbClr val="122142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18288" bIns="18288"/>
          <a:lstStyle/>
          <a:p>
            <a:pPr algn="ctr"/>
            <a:r>
              <a:rPr sz="850" b="1">
                <a:solidFill>
                  <a:srgbClr val="60A5FA"/>
                </a:solidFill>
                <a:latin typeface="Arial"/>
              </a:rPr>
              <a:t>FLUJO OPERATIVO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310896"/>
            <a:ext cx="112471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>
                <a:solidFill>
                  <a:srgbClr val="94A3B8"/>
                </a:solidFill>
                <a:latin typeface="Courier New"/>
              </a:rPr>
              <a:t>13 / 16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94944"/>
            <a:ext cx="11094415" cy="13716"/>
          </a:xfrm>
          <a:prstGeom prst="rect">
            <a:avLst/>
          </a:prstGeom>
          <a:solidFill>
            <a:srgbClr val="2D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6327648"/>
            <a:ext cx="11094415" cy="13716"/>
          </a:xfrm>
          <a:prstGeom prst="rect">
            <a:avLst/>
          </a:prstGeom>
          <a:solidFill>
            <a:srgbClr val="2D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382512"/>
            <a:ext cx="54864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94A3B8"/>
                </a:solidFill>
                <a:latin typeface="Arial"/>
              </a:rPr>
              <a:t>AegisAI Enterprise • Ciclo de Aseguramiento en 6 Etapas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35040" y="6382512"/>
            <a:ext cx="5608015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94A3B8"/>
                </a:solidFill>
                <a:latin typeface="Arial"/>
              </a:rPr>
              <a:t>Trazabilidad completa multi-estándar OWASP AI-SVS + ISO/IEC 42001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786384"/>
            <a:ext cx="11094415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50" b="1">
                <a:solidFill>
                  <a:srgbClr val="38BDF8"/>
                </a:solidFill>
                <a:latin typeface="Arial"/>
              </a:rPr>
              <a:t>EJECUCIÓN OPERATIVA</a:t>
            </a:r>
          </a:p>
          <a:p>
            <a:pPr>
              <a:spcBef>
                <a:spcPts val="200"/>
              </a:spcBef>
            </a:pPr>
            <a:r>
              <a:rPr sz="2200" b="1">
                <a:solidFill>
                  <a:srgbClr val="FFFFFF"/>
                </a:solidFill>
                <a:latin typeface="Arial"/>
              </a:rPr>
              <a:t>Flujo de Trabajo del Auditor: De la Ingesta al Blindaje 100%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94A3B8"/>
                </a:solidFill>
                <a:latin typeface="Arial"/>
              </a:rPr>
              <a:t>Ciclo de aseguramiento determinístico en seis etapas con supervisión humana integrada y remediación automática de código.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938528"/>
            <a:ext cx="5440680" cy="1261872"/>
          </a:xfrm>
          <a:prstGeom prst="roundRect">
            <a:avLst>
              <a:gd name="adj" fmla="val 4000"/>
            </a:avLst>
          </a:prstGeom>
          <a:solidFill>
            <a:srgbClr val="111827"/>
          </a:solidFill>
          <a:ln w="15875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28016" bIns="109728"/>
          <a:lstStyle/>
          <a:p>
            <a:pPr algn="ctr"/>
            <a:r>
              <a:rPr sz="1250" b="1">
                <a:solidFill>
                  <a:srgbClr val="38BDF8"/>
                </a:solidFill>
                <a:latin typeface="Arial"/>
              </a:rPr>
              <a:t>1. Ingesta Autenticada y Model Armor Pre-Vuelo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E2E8F0"/>
                </a:solidFill>
                <a:latin typeface="Arial"/>
              </a:rPr>
              <a:t>El auditor corporativo (Cloud IAP + Firebase ID Token) carga PDFs/ZIPs; Model Armor, inspectPromptAndTrackSession (C02.10) y DLP sanean la entrada.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3328416"/>
            <a:ext cx="5440680" cy="1261872"/>
          </a:xfrm>
          <a:prstGeom prst="roundRect">
            <a:avLst>
              <a:gd name="adj" fmla="val 4000"/>
            </a:avLst>
          </a:prstGeom>
          <a:solidFill>
            <a:srgbClr val="111827"/>
          </a:solidFill>
          <a:ln w="15875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28016" bIns="109728"/>
          <a:lstStyle/>
          <a:p>
            <a:pPr algn="ctr"/>
            <a:r>
              <a:rPr sz="1250" b="1">
                <a:solidFill>
                  <a:srgbClr val="38BDF8"/>
                </a:solidFill>
                <a:latin typeface="Arial"/>
              </a:rPr>
              <a:t>2. Contexto SHA-256 y Cadena de Suministro Model Garden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E2E8F0"/>
                </a:solidFill>
                <a:latin typeface="Arial"/>
              </a:rPr>
              <a:t>Snapshots normativos verificados con integrity-manifest.json (C01.4), procedencia firmada en Model Garden/Registry y BYOF por tenantDomain (C08.1).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718304"/>
            <a:ext cx="5440680" cy="1261872"/>
          </a:xfrm>
          <a:prstGeom prst="roundRect">
            <a:avLst>
              <a:gd name="adj" fmla="val 4000"/>
            </a:avLst>
          </a:prstGeom>
          <a:solidFill>
            <a:srgbClr val="111827"/>
          </a:solidFill>
          <a:ln w="15875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28016" bIns="109728"/>
          <a:lstStyle/>
          <a:p>
            <a:pPr algn="ctr"/>
            <a:r>
              <a:rPr sz="1250" b="1">
                <a:solidFill>
                  <a:srgbClr val="38BDF8"/>
                </a:solidFill>
                <a:latin typeface="Arial"/>
              </a:rPr>
              <a:t>3. Evaluación Map-Reduce en Vertex AI y AutoSxS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E2E8F0"/>
                </a:solidFill>
                <a:latin typeface="Arial"/>
              </a:rPr>
              <a:t>gemini-3.8-flash (ADC sin llaves, temperature: 0.0, responseLogprobs: false) evalúa cada lote con pista de auditoría Vertex Evaluation (AutoSxS).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99631" y="1938528"/>
            <a:ext cx="5440680" cy="1261872"/>
          </a:xfrm>
          <a:prstGeom prst="roundRect">
            <a:avLst>
              <a:gd name="adj" fmla="val 4000"/>
            </a:avLst>
          </a:prstGeom>
          <a:solidFill>
            <a:srgbClr val="111827"/>
          </a:solidFill>
          <a:ln w="15875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28016" bIns="109728"/>
          <a:lstStyle/>
          <a:p>
            <a:pPr algn="ctr"/>
            <a:r>
              <a:rPr sz="1250" b="1">
                <a:solidFill>
                  <a:srgbClr val="34D399"/>
                </a:solidFill>
                <a:latin typeface="Arial"/>
              </a:rPr>
              <a:t>4. Mapa Visual de Brechas y Apelación Humana (A.5.2)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E2E8F0"/>
                </a:solidFill>
                <a:latin typeface="Arial"/>
              </a:rPr>
              <a:t>Gráficos radar interactivos, mapa de brechas L1/L2/L3 basado en evidencia y flujo de Apelación / Revisión Humana (ai-appeals@aegisai.enterprise).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99631" y="3328416"/>
            <a:ext cx="5440680" cy="1261872"/>
          </a:xfrm>
          <a:prstGeom prst="roundRect">
            <a:avLst>
              <a:gd name="adj" fmla="val 4000"/>
            </a:avLst>
          </a:prstGeom>
          <a:solidFill>
            <a:srgbClr val="111827"/>
          </a:solidFill>
          <a:ln w="15875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28016" bIns="109728"/>
          <a:lstStyle/>
          <a:p>
            <a:pPr algn="ctr"/>
            <a:r>
              <a:rPr sz="1250" b="1">
                <a:solidFill>
                  <a:srgbClr val="34D399"/>
                </a:solidFill>
                <a:latin typeface="Arial"/>
              </a:rPr>
              <a:t>5. Arquitectura Remediada al 100% y Recetario Completo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E2E8F0"/>
                </a:solidFill>
                <a:latin typeface="Arial"/>
              </a:rPr>
              <a:t>Sintetiza la Sección 3 (incl. Stack GCP de 3 Fases ISO 42001) + Sección 4 (Recetario para todos los hallazgos 1..N) con etiquetas de sintaxis precisas.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99631" y="4718304"/>
            <a:ext cx="5440680" cy="1261872"/>
          </a:xfrm>
          <a:prstGeom prst="roundRect">
            <a:avLst>
              <a:gd name="adj" fmla="val 4000"/>
            </a:avLst>
          </a:prstGeom>
          <a:solidFill>
            <a:srgbClr val="111827"/>
          </a:solidFill>
          <a:ln w="15875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28016" bIns="109728"/>
          <a:lstStyle/>
          <a:p>
            <a:pPr algn="ctr"/>
            <a:r>
              <a:rPr sz="1250" b="1">
                <a:solidFill>
                  <a:srgbClr val="34D399"/>
                </a:solidFill>
                <a:latin typeface="Arial"/>
              </a:rPr>
              <a:t>6. Model Monitoring, SCC AI y Saga Compensatoria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E2E8F0"/>
                </a:solidFill>
                <a:latin typeface="Arial"/>
              </a:rPr>
              <a:t>Guardado en Firestore con ACLs ownerUid (C05.4), reversión runCompensatingSaga (C09.4), monitoreo de skew/drift y alertas SOC en tiempo real vía SCC AI.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82880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Arial"/>
              </a:rPr>
              <a:t>AEGIS</a:t>
            </a:r>
            <a:r>
              <a:rPr sz="1800" b="1">
                <a:solidFill>
                  <a:srgbClr val="60A5FA"/>
                </a:solidFill>
                <a:latin typeface="Arial"/>
              </a:rPr>
              <a:t>AI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691640" y="320040"/>
            <a:ext cx="3108960" cy="292608"/>
          </a:xfrm>
          <a:prstGeom prst="roundRect">
            <a:avLst/>
          </a:prstGeom>
          <a:solidFill>
            <a:srgbClr val="122142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18288" bIns="18288"/>
          <a:lstStyle/>
          <a:p>
            <a:pPr algn="ctr"/>
            <a:r>
              <a:rPr sz="850" b="1">
                <a:solidFill>
                  <a:srgbClr val="60A5FA"/>
                </a:solidFill>
                <a:latin typeface="Arial"/>
              </a:rPr>
              <a:t>ESPECIFICACIONES Y BENCHMARKS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310896"/>
            <a:ext cx="112471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>
                <a:solidFill>
                  <a:srgbClr val="94A3B8"/>
                </a:solidFill>
                <a:latin typeface="Courier New"/>
              </a:rPr>
              <a:t>14 / 16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94944"/>
            <a:ext cx="11094415" cy="13716"/>
          </a:xfrm>
          <a:prstGeom prst="rect">
            <a:avLst/>
          </a:prstGeom>
          <a:solidFill>
            <a:srgbClr val="2D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6327648"/>
            <a:ext cx="11094415" cy="13716"/>
          </a:xfrm>
          <a:prstGeom prst="rect">
            <a:avLst/>
          </a:prstGeom>
          <a:solidFill>
            <a:srgbClr val="2D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382512"/>
            <a:ext cx="54864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94A3B8"/>
                </a:solidFill>
                <a:latin typeface="Arial"/>
              </a:rPr>
              <a:t>AegisAI Enterprise • Métricas de Ingeniería Verificadas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35040" y="6382512"/>
            <a:ext cx="5608015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94A3B8"/>
                </a:solidFill>
                <a:latin typeface="Arial"/>
              </a:rPr>
              <a:t>Auditado contra OWASP AI-SVS v1.0 e ISO/IEC 42001:2023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786384"/>
            <a:ext cx="11094415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50" b="1">
                <a:solidFill>
                  <a:srgbClr val="38BDF8"/>
                </a:solidFill>
                <a:latin typeface="Arial"/>
              </a:rPr>
              <a:t>ESPECIFICACIONES TÉCNICAS Y BENCHMARKS</a:t>
            </a:r>
          </a:p>
          <a:p>
            <a:pPr>
              <a:spcBef>
                <a:spcPts val="200"/>
              </a:spcBef>
            </a:pPr>
            <a:r>
              <a:rPr sz="2200" b="1">
                <a:solidFill>
                  <a:srgbClr val="FFFFFF"/>
                </a:solidFill>
                <a:latin typeface="Arial"/>
              </a:rPr>
              <a:t>Métricas Verificadas de DevSecOps, Reglas Firestore y Auto-Auditoría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94A3B8"/>
                </a:solidFill>
                <a:latin typeface="Arial"/>
              </a:rPr>
              <a:t>Telemetría de producción y resultados de verificación automatizada de AegisAI v2.5 (revisión Cloud Run aegis-ai-00013).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901952"/>
            <a:ext cx="2606040" cy="1280160"/>
          </a:xfrm>
          <a:prstGeom prst="roundRect">
            <a:avLst>
              <a:gd name="adj" fmla="val 6000"/>
            </a:avLst>
          </a:prstGeom>
          <a:solidFill>
            <a:srgbClr val="111827"/>
          </a:solidFill>
          <a:ln w="15875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  <a:r>
              <a:rPr sz="2400" b="1">
                <a:solidFill>
                  <a:srgbClr val="34D399"/>
                </a:solidFill>
                <a:latin typeface="Arial"/>
              </a:rPr>
              <a:t>97.8%</a:t>
            </a:r>
          </a:p>
          <a:p>
            <a:pPr algn="ctr">
              <a:spcBef>
                <a:spcPts val="300"/>
              </a:spcBef>
            </a:pPr>
            <a:r>
              <a:rPr sz="900">
                <a:solidFill>
                  <a:srgbClr val="94A3B8"/>
                </a:solidFill>
                <a:latin typeface="Arial"/>
              </a:rPr>
              <a:t>Puntaje Auto-Auditoría (100% ISO 42001 • 94.7% OWASP)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74136" y="1901952"/>
            <a:ext cx="2606040" cy="1280160"/>
          </a:xfrm>
          <a:prstGeom prst="roundRect">
            <a:avLst>
              <a:gd name="adj" fmla="val 6000"/>
            </a:avLst>
          </a:prstGeom>
          <a:solidFill>
            <a:srgbClr val="111827"/>
          </a:solidFill>
          <a:ln w="15875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  <a:r>
              <a:rPr sz="2400" b="1">
                <a:solidFill>
                  <a:srgbClr val="38BDF8"/>
                </a:solidFill>
                <a:latin typeface="Arial"/>
              </a:rPr>
              <a:t>308 / 308</a:t>
            </a:r>
          </a:p>
          <a:p>
            <a:pPr algn="ctr">
              <a:spcBef>
                <a:spcPts val="300"/>
              </a:spcBef>
            </a:pPr>
            <a:r>
              <a:rPr sz="900">
                <a:solidFill>
                  <a:srgbClr val="94A3B8"/>
                </a:solidFill>
                <a:latin typeface="Arial"/>
              </a:rPr>
              <a:t>Pruebas Unitarias de Reglas Cloud Firestore Aprobadas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99632" y="1901952"/>
            <a:ext cx="2606040" cy="1280160"/>
          </a:xfrm>
          <a:prstGeom prst="roundRect">
            <a:avLst>
              <a:gd name="adj" fmla="val 6000"/>
            </a:avLst>
          </a:prstGeom>
          <a:solidFill>
            <a:srgbClr val="111827"/>
          </a:solidFill>
          <a:ln w="15875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  <a:r>
              <a:rPr sz="2400" b="1">
                <a:solidFill>
                  <a:srgbClr val="D8B4FE"/>
                </a:solidFill>
                <a:latin typeface="Arial"/>
              </a:rPr>
              <a:t>5 GCP AI</a:t>
            </a:r>
          </a:p>
          <a:p>
            <a:pPr algn="ctr">
              <a:spcBef>
                <a:spcPts val="300"/>
              </a:spcBef>
            </a:pPr>
            <a:r>
              <a:rPr sz="900">
                <a:solidFill>
                  <a:srgbClr val="94A3B8"/>
                </a:solidFill>
                <a:latin typeface="Arial"/>
              </a:rPr>
              <a:t>Servicios Nativos de Protección ISO 42001 (Fases 3, 4 y 5)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034272" y="1901952"/>
            <a:ext cx="2606040" cy="1280160"/>
          </a:xfrm>
          <a:prstGeom prst="roundRect">
            <a:avLst>
              <a:gd name="adj" fmla="val 6000"/>
            </a:avLst>
          </a:prstGeom>
          <a:solidFill>
            <a:srgbClr val="111827"/>
          </a:solidFill>
          <a:ln w="15875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  <a:r>
              <a:rPr sz="2400" b="1">
                <a:solidFill>
                  <a:srgbClr val="FBBF24"/>
                </a:solidFill>
                <a:latin typeface="Arial"/>
              </a:rPr>
              <a:t>0 Fallos</a:t>
            </a:r>
          </a:p>
          <a:p>
            <a:pPr algn="ctr">
              <a:spcBef>
                <a:spcPts val="300"/>
              </a:spcBef>
            </a:pPr>
            <a:r>
              <a:rPr sz="900">
                <a:solidFill>
                  <a:srgbClr val="94A3B8"/>
                </a:solidFill>
                <a:latin typeface="Arial"/>
              </a:rPr>
              <a:t>Cero Controles Obligatorios Fallidos Post-Remediación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364992"/>
            <a:ext cx="5440680" cy="2743200"/>
          </a:xfrm>
          <a:prstGeom prst="roundRect">
            <a:avLst>
              <a:gd name="adj" fmla="val 4000"/>
            </a:avLst>
          </a:prstGeom>
          <a:solidFill>
            <a:srgbClr val="111827"/>
          </a:solidFill>
          <a:ln w="15875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28016" bIns="109728"/>
          <a:lstStyle/>
          <a:p>
            <a:pPr algn="ctr"/>
            <a:r>
              <a:rPr sz="1250" b="1">
                <a:solidFill>
                  <a:srgbClr val="38BDF8"/>
                </a:solidFill>
                <a:latin typeface="Arial"/>
              </a:rPr>
              <a:t>Endurecimiento de Runtime, Contenedor y Stack GCP</a:t>
            </a:r>
          </a:p>
          <a:p>
            <a:pPr>
              <a:spcBef>
                <a:spcPts val="400"/>
              </a:spcBef>
            </a:pPr>
            <a:r>
              <a:rPr sz="930">
                <a:solidFill>
                  <a:srgbClr val="E2E8F0"/>
                </a:solidFill>
                <a:latin typeface="Arial"/>
              </a:rPr>
              <a:t>• Servicio Cloud Run: aegis-ai (us-central1, Cloud IAP obligatorio --no-allow-unauthenticated)</a:t>
            </a:r>
          </a:p>
          <a:p>
            <a:pPr>
              <a:spcBef>
                <a:spcPts val="400"/>
              </a:spcBef>
            </a:pPr>
            <a:r>
              <a:rPr sz="930">
                <a:solidFill>
                  <a:srgbClr val="E2E8F0"/>
                </a:solidFill>
                <a:latin typeface="Arial"/>
              </a:rPr>
              <a:t>• Sistema de Archivos: Usuario no-root aegisuser con chmod -R a-w /app (C04.1)</a:t>
            </a:r>
          </a:p>
          <a:p>
            <a:pPr>
              <a:spcBef>
                <a:spcPts val="400"/>
              </a:spcBef>
            </a:pPr>
            <a:r>
              <a:rPr sz="930">
                <a:solidFill>
                  <a:srgbClr val="E2E8F0"/>
                </a:solidFill>
                <a:latin typeface="Arial"/>
              </a:rPr>
              <a:t>• Cuenta de Servicio: aegis-runner-sa restringida a roles/aiplatform.user + roles/datastore.user (C05.2)</a:t>
            </a:r>
          </a:p>
          <a:p>
            <a:pPr>
              <a:spcBef>
                <a:spcPts val="400"/>
              </a:spcBef>
            </a:pPr>
            <a:r>
              <a:rPr sz="930">
                <a:solidFill>
                  <a:srgbClr val="E2E8F0"/>
                </a:solidFill>
                <a:latin typeface="Arial"/>
              </a:rPr>
              <a:t>• Stack GCP de 3 Fases: Model Garden/Registry, Model Armor, Vertex Evaluation (AutoSxS), Model Monitoring y SCC AI Protection</a:t>
            </a:r>
          </a:p>
          <a:p>
            <a:pPr>
              <a:spcBef>
                <a:spcPts val="400"/>
              </a:spcBef>
            </a:pPr>
            <a:r>
              <a:rPr sz="930">
                <a:solidFill>
                  <a:srgbClr val="E2E8F0"/>
                </a:solidFill>
                <a:latin typeface="Arial"/>
              </a:rPr>
              <a:t>• Red Saliente: validateOutboundEndpoint() bloquea RFC 1918, loopback e IMDS 169.254.169.254 (C04.3)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99632" y="3364992"/>
            <a:ext cx="5440680" cy="2743200"/>
          </a:xfrm>
          <a:prstGeom prst="roundRect">
            <a:avLst>
              <a:gd name="adj" fmla="val 4000"/>
            </a:avLst>
          </a:prstGeom>
          <a:solidFill>
            <a:srgbClr val="111827"/>
          </a:solidFill>
          <a:ln w="15875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28016" bIns="109728"/>
          <a:lstStyle/>
          <a:p>
            <a:pPr algn="ctr"/>
            <a:r>
              <a:rPr sz="1250" b="1">
                <a:solidFill>
                  <a:srgbClr val="34D399"/>
                </a:solidFill>
                <a:latin typeface="Arial"/>
              </a:rPr>
              <a:t>Vertex AI sin Llaves, Multi-Proveedor y FinOps</a:t>
            </a:r>
          </a:p>
          <a:p>
            <a:pPr>
              <a:spcBef>
                <a:spcPts val="400"/>
              </a:spcBef>
            </a:pPr>
            <a:r>
              <a:rPr sz="930">
                <a:solidFill>
                  <a:srgbClr val="E2E8F0"/>
                </a:solidFill>
                <a:latin typeface="Arial"/>
              </a:rPr>
              <a:t>• Motor Predeterminado: Google Vertex AI (gemini-3.8-flash) vía IAM ADC sin requerir llave API Gemini</a:t>
            </a:r>
          </a:p>
          <a:p>
            <a:pPr>
              <a:spcBef>
                <a:spcPts val="400"/>
              </a:spcBef>
            </a:pPr>
            <a:r>
              <a:rPr sz="930">
                <a:solidFill>
                  <a:srgbClr val="E2E8F0"/>
                </a:solidFill>
                <a:latin typeface="Arial"/>
              </a:rPr>
              <a:t>• Soporte Multi-Proveedor: Anthropic Claude, OpenRouter, OpenAI Directo y Proxy Local/Corporativo</a:t>
            </a:r>
          </a:p>
          <a:p>
            <a:pPr>
              <a:spcBef>
                <a:spcPts val="400"/>
              </a:spcBef>
            </a:pPr>
            <a:r>
              <a:rPr sz="930">
                <a:solidFill>
                  <a:srgbClr val="E2E8F0"/>
                </a:solidFill>
                <a:latin typeface="Arial"/>
              </a:rPr>
              <a:t>• Cuotas Anti-DoW (C11.1): 12 auditorías / 10 min, máx 2 concurrentes, 1.5M tokens / 24h por usuario</a:t>
            </a:r>
          </a:p>
          <a:p>
            <a:pPr>
              <a:spcBef>
                <a:spcPts val="400"/>
              </a:spcBef>
            </a:pPr>
            <a:r>
              <a:rPr sz="930">
                <a:solidFill>
                  <a:srgbClr val="E2E8F0"/>
                </a:solidFill>
                <a:latin typeface="Arial"/>
              </a:rPr>
              <a:t>• Guardia Multi-Turno (C02.10): Model Armor + detector crescendo en ventana de 6 turnos (HTTP 422)</a:t>
            </a:r>
          </a:p>
          <a:p>
            <a:pPr>
              <a:spcBef>
                <a:spcPts val="400"/>
              </a:spcBef>
            </a:pPr>
            <a:r>
              <a:rPr sz="930">
                <a:solidFill>
                  <a:srgbClr val="E2E8F0"/>
                </a:solidFill>
                <a:latin typeface="Arial"/>
              </a:rPr>
              <a:t>• Suite Documental Bilingüe: 8 PDFs en inglés + 9 PDFs en español + 3 Presentaciones Ejecutivas/FinOps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82880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Arial"/>
              </a:rPr>
              <a:t>AEGIS</a:t>
            </a:r>
            <a:r>
              <a:rPr sz="1800" b="1">
                <a:solidFill>
                  <a:srgbClr val="60A5FA"/>
                </a:solidFill>
                <a:latin typeface="Arial"/>
              </a:rPr>
              <a:t>AI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691640" y="320040"/>
            <a:ext cx="3108960" cy="292608"/>
          </a:xfrm>
          <a:prstGeom prst="roundRect">
            <a:avLst/>
          </a:prstGeom>
          <a:solidFill>
            <a:srgbClr val="122142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18288" bIns="18288"/>
          <a:lstStyle/>
          <a:p>
            <a:pPr algn="ctr"/>
            <a:r>
              <a:rPr sz="850" b="1">
                <a:solidFill>
                  <a:srgbClr val="60A5FA"/>
                </a:solidFill>
                <a:latin typeface="Arial"/>
              </a:rPr>
              <a:t>MATRIZ DE DEFENSA EN PROFUNDIDAD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310896"/>
            <a:ext cx="112471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>
                <a:solidFill>
                  <a:srgbClr val="94A3B8"/>
                </a:solidFill>
                <a:latin typeface="Courier New"/>
              </a:rPr>
              <a:t>15 / 16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94944"/>
            <a:ext cx="11094415" cy="13716"/>
          </a:xfrm>
          <a:prstGeom prst="rect">
            <a:avLst/>
          </a:prstGeom>
          <a:solidFill>
            <a:srgbClr val="2D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6327648"/>
            <a:ext cx="11094415" cy="13716"/>
          </a:xfrm>
          <a:prstGeom prst="rect">
            <a:avLst/>
          </a:prstGeom>
          <a:solidFill>
            <a:srgbClr val="2D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382512"/>
            <a:ext cx="54864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94A3B8"/>
                </a:solidFill>
                <a:latin typeface="Arial"/>
              </a:rPr>
              <a:t>AegisAI Enterprise • Trazabilidad Completa OWASP AI-SVS v1.0 e ISO/IEC 42001:2023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35040" y="6382512"/>
            <a:ext cx="5608015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94A3B8"/>
                </a:solidFill>
                <a:latin typeface="Arial"/>
              </a:rPr>
              <a:t>Documentado en Manual 2 (Diseño), Manual 3 (Arquitectura), Manual 6 (Despliegue) y Manual 8 (AIMS ISO 42001)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786384"/>
            <a:ext cx="11094415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50" b="1">
                <a:solidFill>
                  <a:srgbClr val="38BDF8"/>
                </a:solidFill>
                <a:latin typeface="Arial"/>
              </a:rPr>
              <a:t>TRAZABILIDAD INTEGRAL DE REMEDIACIÓN</a:t>
            </a:r>
          </a:p>
          <a:p>
            <a:pPr>
              <a:spcBef>
                <a:spcPts val="200"/>
              </a:spcBef>
            </a:pPr>
            <a:r>
              <a:rPr sz="2200" b="1">
                <a:solidFill>
                  <a:srgbClr val="FFFFFF"/>
                </a:solidFill>
                <a:latin typeface="Arial"/>
              </a:rPr>
              <a:t>Controles Aplicados de OWASP AI-SVS v1.0 e ISO/IEC 42001:2023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94A3B8"/>
                </a:solidFill>
                <a:latin typeface="Arial"/>
              </a:rPr>
              <a:t>Controles arquitectónicos y de gobernanza implementados en código, contenedor, perímetro cloud y políticas AIMS.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938528"/>
            <a:ext cx="5440680" cy="4160520"/>
          </a:xfrm>
          <a:prstGeom prst="roundRect">
            <a:avLst>
              <a:gd name="adj" fmla="val 4000"/>
            </a:avLst>
          </a:prstGeom>
          <a:solidFill>
            <a:srgbClr val="122142"/>
          </a:solidFill>
          <a:ln w="15875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28016" bIns="109728"/>
          <a:lstStyle/>
          <a:p>
            <a:pPr algn="ctr"/>
            <a:r>
              <a:rPr sz="1250" b="1">
                <a:solidFill>
                  <a:srgbClr val="38BDF8"/>
                </a:solidFill>
                <a:latin typeface="Arial"/>
              </a:rPr>
              <a:t>Controles Técnicos OWASP AI-SVS v1.0 (17 Dominios Endurecidos)</a:t>
            </a:r>
          </a:p>
          <a:p>
            <a:pPr>
              <a:spcBef>
                <a:spcPts val="400"/>
              </a:spcBef>
            </a:pPr>
            <a:r>
              <a:rPr sz="910">
                <a:solidFill>
                  <a:srgbClr val="E2E8F0"/>
                </a:solidFill>
                <a:latin typeface="Arial"/>
              </a:rPr>
              <a:t>• C01.4 y C13.1 Cadena de Suministro: Verificación SHA-256 al arranque + modelos firmados en Vertex AI Model Garden / Registry.</a:t>
            </a:r>
          </a:p>
          <a:p>
            <a:pPr>
              <a:spcBef>
                <a:spcPts val="400"/>
              </a:spcBef>
            </a:pPr>
            <a:r>
              <a:rPr sz="910">
                <a:solidFill>
                  <a:srgbClr val="E2E8F0"/>
                </a:solidFill>
                <a:latin typeface="Arial"/>
              </a:rPr>
              <a:t>• C02.10 y C07.1 Sanitización en Línea: Google Cloud Model Armor + bloqueo multi-turno Crescendo inspectPromptAndTrackSession() (HTTP 422).</a:t>
            </a:r>
          </a:p>
          <a:p>
            <a:pPr>
              <a:spcBef>
                <a:spcPts val="400"/>
              </a:spcBef>
            </a:pPr>
            <a:r>
              <a:rPr sz="910">
                <a:solidFill>
                  <a:srgbClr val="E2E8F0"/>
                </a:solidFill>
                <a:latin typeface="Arial"/>
              </a:rPr>
              <a:t>• C04.1 y C04.3 Infraestructura: /app de solo lectura (chmod -R a-w), Cloud IAP, VPC y filtro SSRF/IMDS validateOutboundEndpoint().</a:t>
            </a:r>
          </a:p>
          <a:p>
            <a:pPr>
              <a:spcBef>
                <a:spcPts val="400"/>
              </a:spcBef>
            </a:pPr>
            <a:r>
              <a:rPr sz="910">
                <a:solidFill>
                  <a:srgbClr val="E2E8F0"/>
                </a:solidFill>
                <a:latin typeface="Arial"/>
              </a:rPr>
              <a:t>• C05.2, C05.3 y C05.4 Auth/IAM: Revocación de roles/viewer en aegis-runner-sa, crypto.timingSafeEqual, Firebase ID token y ACLs ownerUid.</a:t>
            </a:r>
          </a:p>
          <a:p>
            <a:pPr>
              <a:spcBef>
                <a:spcPts val="400"/>
              </a:spcBef>
            </a:pPr>
            <a:r>
              <a:rPr sz="910">
                <a:solidFill>
                  <a:srgbClr val="E2E8F0"/>
                </a:solidFill>
                <a:latin typeface="Arial"/>
              </a:rPr>
              <a:t>• C08.1 y C08.4 RAG y Evaluación: Pre-filtrado ACL por dominio, Vertex Evaluation Service (AutoSxS) y Model Monitoring (skew/drift).</a:t>
            </a:r>
          </a:p>
          <a:p>
            <a:pPr>
              <a:spcBef>
                <a:spcPts val="400"/>
              </a:spcBef>
            </a:pPr>
            <a:r>
              <a:rPr sz="910">
                <a:solidFill>
                  <a:srgbClr val="E2E8F0"/>
                </a:solidFill>
                <a:latin typeface="Arial"/>
              </a:rPr>
              <a:t>• C09.4 y C10.1–C10.5 Agentes/MCP: Reversión runCompensatingSaga(), firma Ed25519/HMAC MCP, OAuth 2.1 PKCE y dnsRebindingGuard.</a:t>
            </a:r>
          </a:p>
          <a:p>
            <a:pPr>
              <a:spcBef>
                <a:spcPts val="400"/>
              </a:spcBef>
            </a:pPr>
            <a:r>
              <a:rPr sz="910">
                <a:solidFill>
                  <a:srgbClr val="E2E8F0"/>
                </a:solidFill>
                <a:latin typeface="Arial"/>
              </a:rPr>
              <a:t>• C11.1, C11.4 y C12.2 FinOps/SIEM: acquireAntiDoWQuota(), responseLogprobs: false y alertas SOC en tiempo real vía SCC AI Protection.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9632" y="1938528"/>
            <a:ext cx="5440680" cy="4160520"/>
          </a:xfrm>
          <a:prstGeom prst="roundRect">
            <a:avLst>
              <a:gd name="adj" fmla="val 4000"/>
            </a:avLst>
          </a:prstGeom>
          <a:solidFill>
            <a:srgbClr val="0B2E2B"/>
          </a:solidFill>
          <a:ln w="15875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28016" bIns="109728"/>
          <a:lstStyle/>
          <a:p>
            <a:pPr algn="ctr"/>
            <a:r>
              <a:rPr sz="1250" b="1">
                <a:solidFill>
                  <a:srgbClr val="34D399"/>
                </a:solidFill>
                <a:latin typeface="Arial"/>
              </a:rPr>
              <a:t>Controles de Gobernanza ISO/IEC 42001:2023 AIMS (18 Cláusulas y Anexo A)</a:t>
            </a:r>
          </a:p>
          <a:p>
            <a:pPr>
              <a:spcBef>
                <a:spcPts val="400"/>
              </a:spcBef>
            </a:pPr>
            <a:r>
              <a:rPr sz="910">
                <a:solidFill>
                  <a:srgbClr val="E2E8F0"/>
                </a:solidFill>
                <a:latin typeface="Arial"/>
              </a:rPr>
              <a:t>• Cláusula 4.1 y 4.2 Contexto y Stakeholders: Matriz FODA/PESTEL, rol como proveedor de aseguramiento IA y registro de partes interesadas.</a:t>
            </a:r>
          </a:p>
          <a:p>
            <a:pPr>
              <a:spcBef>
                <a:spcPts val="400"/>
              </a:spcBef>
            </a:pPr>
            <a:r>
              <a:rPr sz="910">
                <a:solidFill>
                  <a:srgbClr val="E2E8F0"/>
                </a:solidFill>
                <a:latin typeface="Arial"/>
              </a:rPr>
              <a:t>• Cláusula 5.1, 5.2, A.2.1 y A.2.3 Liderazgo y Política IA: Política Corporativa de IA aprobada con ciclo de revisión anual.</a:t>
            </a:r>
          </a:p>
          <a:p>
            <a:pPr>
              <a:spcBef>
                <a:spcPts val="400"/>
              </a:spcBef>
            </a:pPr>
            <a:r>
              <a:rPr sz="910">
                <a:solidFill>
                  <a:srgbClr val="E2E8F0"/>
                </a:solidFill>
                <a:latin typeface="Arial"/>
              </a:rPr>
              <a:t>• Cláusula 7.2, 7.3 y A.3.3 Competencia y Canal Ético: Certificación anual de auditores y canal confidencial (ai-ethics-whistleblower@aegisai.enterprise).</a:t>
            </a:r>
          </a:p>
          <a:p>
            <a:pPr>
              <a:spcBef>
                <a:spcPts val="400"/>
              </a:spcBef>
            </a:pPr>
            <a:r>
              <a:rPr sz="910">
                <a:solidFill>
                  <a:srgbClr val="E2E8F0"/>
                </a:solidFill>
                <a:latin typeface="Arial"/>
              </a:rPr>
              <a:t>• A.4.1, A.6.1.2 y A.7.3 Activos y Cadena de Suministro IA: Catálogo de modelos verificados y firmados vía Model Garden y Model Registry.</a:t>
            </a:r>
          </a:p>
          <a:p>
            <a:pPr>
              <a:spcBef>
                <a:spcPts val="400"/>
              </a:spcBef>
            </a:pPr>
            <a:r>
              <a:rPr sz="910">
                <a:solidFill>
                  <a:srgbClr val="E2E8F0"/>
                </a:solidFill>
                <a:latin typeface="Arial"/>
              </a:rPr>
              <a:t>• A.5.1–A.5.3 y A.6.2.6 Impacto, Apelación y Seguridad: Metodología AIIA, apelación humana, Model Armor y Vertex AI Model Monitoring.</a:t>
            </a:r>
          </a:p>
          <a:p>
            <a:pPr>
              <a:spcBef>
                <a:spcPts val="400"/>
              </a:spcBef>
            </a:pPr>
            <a:r>
              <a:rPr sz="910">
                <a:solidFill>
                  <a:srgbClr val="E2E8F0"/>
                </a:solidFill>
                <a:latin typeface="Arial"/>
              </a:rPr>
              <a:t>• Cláusula 9.1–9.3, A.6.2.4 y A.6.2.8 Evaluación y SOC: Pista de auditoría Vertex Evaluation (AutoSxS), auditorías internas y alertas SCC AI.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82880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Arial"/>
              </a:rPr>
              <a:t>AEGIS</a:t>
            </a:r>
            <a:r>
              <a:rPr sz="1800" b="1">
                <a:solidFill>
                  <a:srgbClr val="60A5FA"/>
                </a:solidFill>
                <a:latin typeface="Arial"/>
              </a:rPr>
              <a:t>AI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691640" y="320040"/>
            <a:ext cx="3108960" cy="292608"/>
          </a:xfrm>
          <a:prstGeom prst="roundRect">
            <a:avLst/>
          </a:prstGeom>
          <a:solidFill>
            <a:srgbClr val="122142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18288" bIns="18288"/>
          <a:lstStyle/>
          <a:p>
            <a:pPr algn="ctr"/>
            <a:r>
              <a:rPr sz="850" b="1">
                <a:solidFill>
                  <a:srgbClr val="60A5FA"/>
                </a:solidFill>
                <a:latin typeface="Arial"/>
              </a:rPr>
              <a:t>VISIÓN ESTRATÉGICA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310896"/>
            <a:ext cx="112471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>
                <a:solidFill>
                  <a:srgbClr val="94A3B8"/>
                </a:solidFill>
                <a:latin typeface="Courier New"/>
              </a:rPr>
              <a:t>16 / 16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94944"/>
            <a:ext cx="11094415" cy="13716"/>
          </a:xfrm>
          <a:prstGeom prst="rect">
            <a:avLst/>
          </a:prstGeom>
          <a:solidFill>
            <a:srgbClr val="2D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6327648"/>
            <a:ext cx="11094415" cy="13716"/>
          </a:xfrm>
          <a:prstGeom prst="rect">
            <a:avLst/>
          </a:prstGeom>
          <a:solidFill>
            <a:srgbClr val="2D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382512"/>
            <a:ext cx="54864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94A3B8"/>
                </a:solidFill>
                <a:latin typeface="Arial"/>
              </a:rPr>
              <a:t>AegisAI Enterprise • Visión Estratégica 2026–2027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35040" y="6382512"/>
            <a:ext cx="5608015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94A3B8"/>
                </a:solidFill>
                <a:latin typeface="Arial"/>
              </a:rPr>
              <a:t>Contacto: opensource@aegis-ai.dev • GitHub: github.com/fjhuerta-67/AegisAI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786384"/>
            <a:ext cx="11094415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50" b="1">
                <a:solidFill>
                  <a:srgbClr val="38BDF8"/>
                </a:solidFill>
                <a:latin typeface="Arial"/>
              </a:rPr>
              <a:t>EVOLUCIÓN Y HOJA DE RUTA</a:t>
            </a:r>
          </a:p>
          <a:p>
            <a:pPr>
              <a:spcBef>
                <a:spcPts val="200"/>
              </a:spcBef>
            </a:pPr>
            <a:r>
              <a:rPr sz="2200" b="1">
                <a:solidFill>
                  <a:srgbClr val="FFFFFF"/>
                </a:solidFill>
                <a:latin typeface="Arial"/>
              </a:rPr>
              <a:t>Siguientes Horizontes en la Ingeniería de AegisAI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94A3B8"/>
                </a:solidFill>
                <a:latin typeface="Arial"/>
              </a:rPr>
              <a:t>Hoja de ruta estratégica tras nuestras presentaciones del Release Candidate ante Farmacias del Ahorro, AMF y Grupo Coppel.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938528"/>
            <a:ext cx="3547872" cy="2926080"/>
          </a:xfrm>
          <a:prstGeom prst="roundRect">
            <a:avLst>
              <a:gd name="adj" fmla="val 4000"/>
            </a:avLst>
          </a:prstGeom>
          <a:solidFill>
            <a:srgbClr val="111827"/>
          </a:solidFill>
          <a:ln w="15875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28016" bIns="109728"/>
          <a:lstStyle/>
          <a:p>
            <a:pPr algn="ctr"/>
            <a:r>
              <a:rPr sz="800" b="1">
                <a:solidFill>
                  <a:srgbClr val="38BDF8"/>
                </a:solidFill>
                <a:latin typeface="Arial"/>
              </a:rPr>
              <a:t>Q4 2026 • CORTO PLAZO</a:t>
            </a:r>
          </a:p>
          <a:p>
            <a:pPr>
              <a:spcBef>
                <a:spcPts val="300"/>
              </a:spcBef>
            </a:pPr>
            <a:r>
              <a:rPr sz="1250" b="1">
                <a:solidFill>
                  <a:srgbClr val="38BDF8"/>
                </a:solidFill>
                <a:latin typeface="Arial"/>
              </a:rPr>
              <a:t>Compuertas Nativas CI/CD Shift-Left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E2E8F0"/>
                </a:solidFill>
                <a:latin typeface="Arial"/>
              </a:rPr>
              <a:t>GitHub Actions y GitLab CI Runners oficiales para bloquear automáticamente Pull Requests que introduzcan vulnerabilidades de inyección de prompts, manifiestos MCP sin firma o bases vectoriales sin cifrado.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15968" y="1938528"/>
            <a:ext cx="3547872" cy="2926080"/>
          </a:xfrm>
          <a:prstGeom prst="roundRect">
            <a:avLst>
              <a:gd name="adj" fmla="val 4000"/>
            </a:avLst>
          </a:prstGeom>
          <a:solidFill>
            <a:srgbClr val="111827"/>
          </a:solidFill>
          <a:ln w="15875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28016" bIns="109728"/>
          <a:lstStyle/>
          <a:p>
            <a:pPr algn="ctr"/>
            <a:r>
              <a:rPr sz="800" b="1">
                <a:solidFill>
                  <a:srgbClr val="34D399"/>
                </a:solidFill>
                <a:latin typeface="Arial"/>
              </a:rPr>
              <a:t>Q1 2027 • MEDIANO PLAZO</a:t>
            </a:r>
          </a:p>
          <a:p>
            <a:pPr>
              <a:spcBef>
                <a:spcPts val="300"/>
              </a:spcBef>
            </a:pPr>
            <a:r>
              <a:rPr sz="1250" b="1">
                <a:solidFill>
                  <a:srgbClr val="34D399"/>
                </a:solidFill>
                <a:latin typeface="Arial"/>
              </a:rPr>
              <a:t>Auditoría de Grafos Multi-Agente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E2E8F0"/>
                </a:solidFill>
                <a:latin typeface="Arial"/>
              </a:rPr>
              <a:t>Módulo especializado para auditar flujos de agentes autónomos (LangGraph, CrewAI, AutoGen): fronteras de autorización de herramientas, sagas compensatorias y aislamiento de memoria entre agentes.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92440" y="1938528"/>
            <a:ext cx="3547872" cy="2926080"/>
          </a:xfrm>
          <a:prstGeom prst="roundRect">
            <a:avLst>
              <a:gd name="adj" fmla="val 4000"/>
            </a:avLst>
          </a:prstGeom>
          <a:solidFill>
            <a:srgbClr val="111827"/>
          </a:solidFill>
          <a:ln w="15875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28016" bIns="109728"/>
          <a:lstStyle/>
          <a:p>
            <a:pPr algn="ctr"/>
            <a:r>
              <a:rPr sz="800" b="1">
                <a:solidFill>
                  <a:srgbClr val="FBBF24"/>
                </a:solidFill>
                <a:latin typeface="Arial"/>
              </a:rPr>
              <a:t>Q2 2027 • LARGO PLAZO</a:t>
            </a:r>
          </a:p>
          <a:p>
            <a:pPr>
              <a:spcBef>
                <a:spcPts val="300"/>
              </a:spcBef>
            </a:pPr>
            <a:r>
              <a:rPr sz="1250" b="1">
                <a:solidFill>
                  <a:srgbClr val="FBBF24"/>
                </a:solidFill>
                <a:latin typeface="Arial"/>
              </a:rPr>
              <a:t>Auto-Remediación con IaC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E2E8F0"/>
                </a:solidFill>
                <a:latin typeface="Arial"/>
              </a:rPr>
              <a:t>Síntesis automatizada en un clic de módulos de Terraform y Helm Charts que aplican directamente políticas de Cloud IAP, VPC Service Controls y Model Armor en clústeres productivos.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5047488"/>
            <a:ext cx="11094415" cy="1097280"/>
          </a:xfrm>
          <a:prstGeom prst="roundRect">
            <a:avLst>
              <a:gd name="adj" fmla="val 4000"/>
            </a:avLst>
          </a:prstGeom>
          <a:solidFill>
            <a:srgbClr val="0B2E2B"/>
          </a:solidFill>
          <a:ln w="15875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28016" bIns="109728"/>
          <a:lstStyle/>
          <a:p>
            <a:pPr algn="ctr"/>
            <a:r>
              <a:rPr sz="1250" b="1">
                <a:solidFill>
                  <a:srgbClr val="FFFFFF"/>
                </a:solidFill>
                <a:latin typeface="Arial"/>
              </a:rPr>
              <a:t>🎯 Conclusión: Aseguramiento Empresarial Construido por $19.41, Auditando por $0.08–$0.30</a:t>
            </a:r>
          </a:p>
          <a:p>
            <a:pPr>
              <a:spcBef>
                <a:spcPts val="400"/>
              </a:spcBef>
            </a:pPr>
            <a:r>
              <a:rPr sz="960">
                <a:solidFill>
                  <a:srgbClr val="E2E8F0"/>
                </a:solidFill>
                <a:latin typeface="Arial"/>
              </a:rPr>
              <a:t>Combinando Google AI Studio, Google Antigravity, Vertex AI Gemini 3.8 Flash, Model Garden/Registry, Model Armor, AutoSxS, Model Monitoring y SCC AI Protection, AegisAI opera con &gt;99% menor costo que las alternativas tradicionales.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