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828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AEGIS</a:t>
            </a:r>
            <a:r>
              <a:rPr sz="1800" b="1">
                <a:solidFill>
                  <a:srgbClr val="60A5FA"/>
                </a:solidFill>
                <a:latin typeface="Arial"/>
              </a:rPr>
              <a:t>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1640" y="320040"/>
            <a:ext cx="3108960" cy="292608"/>
          </a:xfrm>
          <a:prstGeom prst="roundRect">
            <a:avLst/>
          </a:prstGeom>
          <a:solidFill>
            <a:srgbClr val="1221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850" b="1">
                <a:solidFill>
                  <a:srgbClr val="60A5FA"/>
                </a:solidFill>
                <a:latin typeface="Arial"/>
              </a:rPr>
              <a:t>UNIFIED MASTER PRESENTATION (EXECUTIVE + EVOLUTION + FINOPS)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10896"/>
            <a:ext cx="1124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Courier New"/>
              </a:rPr>
              <a:t>01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94944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AegisAI Enterprise v2.5 • Unified Master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382512"/>
            <a:ext cx="56080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Google Cloud Run • Vertex AI • Model Armor • AutoSxS • SCC AI Protection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1325880"/>
            <a:ext cx="6522415" cy="365760"/>
          </a:xfrm>
          <a:prstGeom prst="roundRect">
            <a:avLst/>
          </a:prstGeom>
          <a:solidFill>
            <a:srgbClr val="122142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38BDF8"/>
                </a:solidFill>
                <a:latin typeface="Arial"/>
              </a:rPr>
              <a:t>GOOGLE CLOUD AI SECURITY, ISO/IEC 42001 AIMS &amp; GENAI FINOPS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74519"/>
            <a:ext cx="10728655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AegisAI Enterprise: Architecture,</a:t>
            </a:r>
          </a:p>
          <a:p>
            <a:pPr algn="ctr">
              <a:spcBef>
                <a:spcPts val="400"/>
              </a:spcBef>
            </a:pPr>
            <a:r>
              <a:rPr sz="3400" b="1">
                <a:solidFill>
                  <a:srgbClr val="38BDF8"/>
                </a:solidFill>
                <a:latin typeface="Arial"/>
              </a:rPr>
              <a:t>Evolution, Self-Audit &amp; FinOps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520440"/>
            <a:ext cx="999713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>
                <a:solidFill>
                  <a:srgbClr val="E2E8F0"/>
                </a:solidFill>
                <a:latin typeface="Arial"/>
              </a:rPr>
              <a:t>Complete 16-Slide Master Deck combining the Executive &amp; Technical Architecture Presentation with the 3-Phase ISO 42001 Google Cloud Protection Stack, 4-Stage Product Evolution (AI Studio ➔ Antigravity), Recursive Self-Audit (68.9% ➔ 97.8%), Enterprise RC Roadshow, and FinOps Model Cost Benchmark ($19.41 USD Total Build Cost).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0907" y="4892040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12214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38BDF8"/>
                </a:solidFill>
                <a:latin typeface="Arial"/>
              </a:rPr>
              <a:t>1. AI Studio PoC (Gemini 3.8–3.6 Flash)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7067" y="4892040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122142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60A5FA"/>
                </a:solidFill>
                <a:latin typeface="Arial"/>
              </a:rPr>
              <a:t>2. Antigravity Full-Stack Build (3.8 Flash)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93227" y="4892040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0B2E2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34D399"/>
                </a:solidFill>
                <a:latin typeface="Arial"/>
              </a:rPr>
              <a:t>3. Self-Audit Loop: 68.9% ➔ 97.8%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0907" y="545896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261840"/>
          </a:solidFill>
          <a:ln w="1270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D8B4FE"/>
                </a:solidFill>
                <a:latin typeface="Arial"/>
              </a:rPr>
              <a:t>4. RC: Farmacias del Ahorro • AMF • Coppel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27067" y="545896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12214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38BDF8"/>
                </a:solidFill>
                <a:latin typeface="Arial"/>
              </a:rPr>
              <a:t>5. 3-Phase GCP ISO 42001 Protection Stack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93227" y="545896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0B2E2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34D399"/>
                </a:solidFill>
                <a:latin typeface="Arial"/>
              </a:rPr>
              <a:t>6. Total App Build Cost: $19.41 USD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828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AEGIS</a:t>
            </a:r>
            <a:r>
              <a:rPr sz="1800" b="1">
                <a:solidFill>
                  <a:srgbClr val="60A5FA"/>
                </a:solidFill>
                <a:latin typeface="Arial"/>
              </a:rPr>
              <a:t>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1640" y="320040"/>
            <a:ext cx="3108960" cy="292608"/>
          </a:xfrm>
          <a:prstGeom prst="roundRect">
            <a:avLst/>
          </a:prstGeom>
          <a:solidFill>
            <a:srgbClr val="1221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850" b="1">
                <a:solidFill>
                  <a:srgbClr val="60A5FA"/>
                </a:solidFill>
                <a:latin typeface="Arial"/>
              </a:rPr>
              <a:t>RISK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10896"/>
            <a:ext cx="1124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Courier New"/>
              </a:rPr>
              <a:t>02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94944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AegisAI Enterprise • AI Risk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382512"/>
            <a:ext cx="56080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Source: IBM Cost of a Data Breach 2025, OWASP AI-SVS v1.0 &amp; ISO/IEC 42001:2023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86384"/>
            <a:ext cx="1109441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38BDF8"/>
                </a:solidFill>
                <a:latin typeface="Arial"/>
              </a:rPr>
              <a:t>THE PROBLEM TO SOLVE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Arial"/>
              </a:rPr>
              <a:t>The Critical Security Blindspot in Enterprise GenAI Adoption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  <a:latin typeface="Arial"/>
              </a:rPr>
              <a:t>Enterprises are shipping generative AI models, agentic workflows, MCP tools, and RAG pipelines without architectural verification or ISO 42001 governance.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38528"/>
            <a:ext cx="3547872" cy="2057400"/>
          </a:xfrm>
          <a:prstGeom prst="roundRect">
            <a:avLst>
              <a:gd name="adj" fmla="val 4000"/>
            </a:avLst>
          </a:prstGeom>
          <a:solidFill>
            <a:srgbClr val="34141E"/>
          </a:solidFill>
          <a:ln w="1587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F87171"/>
                </a:solidFill>
                <a:latin typeface="Arial"/>
              </a:rPr>
              <a:t>⚠ Ungoverned AI Access &amp; Breaches</a:t>
            </a:r>
          </a:p>
          <a:p>
            <a:pPr>
              <a:spcBef>
                <a:spcPts val="400"/>
              </a:spcBef>
            </a:pPr>
            <a:r>
              <a:rPr sz="980">
                <a:solidFill>
                  <a:srgbClr val="E2E8F0"/>
                </a:solidFill>
                <a:latin typeface="Arial"/>
              </a:rPr>
              <a:t>Per IBM Cost of a Data Breach 2025, 13% of organizations reported breaches of AI models or applications, and 97% of those lacked proper AI access controls or formal impact assessments (ISO 42001 A.5.1).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938528"/>
            <a:ext cx="3547872" cy="2057400"/>
          </a:xfrm>
          <a:prstGeom prst="roundRect">
            <a:avLst>
              <a:gd name="adj" fmla="val 4000"/>
            </a:avLst>
          </a:prstGeom>
          <a:solidFill>
            <a:srgbClr val="34141E"/>
          </a:solidFill>
          <a:ln w="1587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F87171"/>
                </a:solidFill>
                <a:latin typeface="Arial"/>
              </a:rPr>
              <a:t>⚠ Multi-Turn &amp; Agentic Attack Surface</a:t>
            </a:r>
          </a:p>
          <a:p>
            <a:pPr>
              <a:spcBef>
                <a:spcPts val="400"/>
              </a:spcBef>
            </a:pPr>
            <a:r>
              <a:rPr sz="980">
                <a:solidFill>
                  <a:srgbClr val="E2E8F0"/>
                </a:solidFill>
                <a:latin typeface="Arial"/>
              </a:rPr>
              <a:t>RAG pipelines, MCP servers, and autonomous agents introduce critical vectors: Multi-Turn Crescendo Prompt Injection (C02.10), Normative/Vector Poisoning (C01.4), and SSRF/IMDS exfiltration (C04.3).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938528"/>
            <a:ext cx="3547872" cy="2057400"/>
          </a:xfrm>
          <a:prstGeom prst="roundRect">
            <a:avLst>
              <a:gd name="adj" fmla="val 4000"/>
            </a:avLst>
          </a:prstGeom>
          <a:solidFill>
            <a:srgbClr val="34141E"/>
          </a:solidFill>
          <a:ln w="1587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F87171"/>
                </a:solidFill>
                <a:latin typeface="Arial"/>
              </a:rPr>
              <a:t>⚠ CISO vs. Data Science Silo</a:t>
            </a:r>
          </a:p>
          <a:p>
            <a:pPr>
              <a:spcBef>
                <a:spcPts val="400"/>
              </a:spcBef>
            </a:pPr>
            <a:r>
              <a:rPr sz="980">
                <a:solidFill>
                  <a:srgbClr val="E2E8F0"/>
                </a:solidFill>
                <a:latin typeface="Arial"/>
              </a:rPr>
              <a:t>Security teams lack tools to audit agent graphs, MCP manifests (C10.1), and pre-retrieval vector ACLs (C08.1); AI developers lack automated mappings to formal compliance clauses.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60520"/>
            <a:ext cx="5440680" cy="196596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FBBF24"/>
                </a:solidFill>
                <a:latin typeface="Arial"/>
              </a:rPr>
              <a:t>Lack of Operationalized Governance (ISO/IEC 42001)</a:t>
            </a:r>
          </a:p>
          <a:p>
            <a:pPr>
              <a:spcBef>
                <a:spcPts val="400"/>
              </a:spcBef>
            </a:pPr>
            <a:r>
              <a:rPr sz="980">
                <a:solidFill>
                  <a:srgbClr val="E2E8F0"/>
                </a:solidFill>
                <a:latin typeface="Arial"/>
              </a:rPr>
              <a:t>Organizations struggle to operationalize ISO/IEC 42001:2023 requirements—such as Corporate AI Policies (A.2.1), Confidential Whistleblowing (A.3.3), AI Asset Inventories (A.4.1), and Human Verdict Appeals (A.5.2)—into software engineering workflows.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4160520"/>
            <a:ext cx="5440680" cy="196596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8BDF8"/>
                </a:solidFill>
                <a:latin typeface="Arial"/>
              </a:rPr>
              <a:t>Proliferation of 'Shadow AI' &amp; Denial of Wallet</a:t>
            </a:r>
          </a:p>
          <a:p>
            <a:pPr>
              <a:spcBef>
                <a:spcPts val="400"/>
              </a:spcBef>
            </a:pPr>
            <a:r>
              <a:rPr sz="980">
                <a:solidFill>
                  <a:srgbClr val="E2E8F0"/>
                </a:solidFill>
                <a:latin typeface="Arial"/>
              </a:rPr>
              <a:t>Unregulated external API calls, timing-vulnerable token checks (C05.3), over-privileged service accounts (C05.2), missing Anti-DoW token budgets (C11.1), and exposed logit probabilities (C11.4).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828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AEGIS</a:t>
            </a:r>
            <a:r>
              <a:rPr sz="1800" b="1">
                <a:solidFill>
                  <a:srgbClr val="60A5FA"/>
                </a:solidFill>
                <a:latin typeface="Arial"/>
              </a:rPr>
              <a:t>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1640" y="320040"/>
            <a:ext cx="3108960" cy="292608"/>
          </a:xfrm>
          <a:prstGeom prst="roundRect">
            <a:avLst/>
          </a:prstGeom>
          <a:solidFill>
            <a:srgbClr val="1221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850" b="1">
                <a:solidFill>
                  <a:srgbClr val="60A5FA"/>
                </a:solidFill>
                <a:latin typeface="Arial"/>
              </a:rPr>
              <a:t>CONSEQUENCE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10896"/>
            <a:ext cx="1124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Courier New"/>
              </a:rPr>
              <a:t>03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94944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AegisAI Enterprise • Impact &amp; Business Continuity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382512"/>
            <a:ext cx="56080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Criteria aligned with ISO/IEC 42001:2023 Clause 6 &amp; Annex A.5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86384"/>
            <a:ext cx="1109441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38BDF8"/>
                </a:solidFill>
                <a:latin typeface="Arial"/>
              </a:rPr>
              <a:t>IMPACT OF INACTION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Arial"/>
              </a:rPr>
              <a:t>The Real Cost of Neglecting Proactive AI Assurance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  <a:latin typeface="Arial"/>
              </a:rPr>
              <a:t>Operating unverified AI systems exposes organizations to severe financial, regulatory, and operational liabilities.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01952"/>
            <a:ext cx="2606040" cy="132588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587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2400" b="1">
                <a:solidFill>
                  <a:srgbClr val="F87171"/>
                </a:solidFill>
                <a:latin typeface="Arial"/>
              </a:rPr>
              <a:t>€35M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94A3B8"/>
                </a:solidFill>
                <a:latin typeface="Arial"/>
              </a:rPr>
              <a:t>or 7% of global annual turnover in EU AI Act Art. 99 penalties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74136" y="1901952"/>
            <a:ext cx="2606040" cy="132588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587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2400" b="1">
                <a:solidFill>
                  <a:srgbClr val="FBBF24"/>
                </a:solidFill>
                <a:latin typeface="Arial"/>
              </a:rPr>
              <a:t>97%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94A3B8"/>
                </a:solidFill>
                <a:latin typeface="Arial"/>
              </a:rPr>
              <a:t>of breached AI apps lacked proper AI access controls (IBM 2025)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901952"/>
            <a:ext cx="2606040" cy="132588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2400" b="1">
                <a:solidFill>
                  <a:srgbClr val="38BDF8"/>
                </a:solidFill>
                <a:latin typeface="Arial"/>
              </a:rPr>
              <a:t>10 / 10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94A3B8"/>
                </a:solidFill>
                <a:latin typeface="Arial"/>
              </a:rPr>
              <a:t>Automated OWASP LLM Top-10 risk checks enforced per audit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34272" y="1901952"/>
            <a:ext cx="2606040" cy="132588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2400" b="1">
                <a:solidFill>
                  <a:srgbClr val="34D399"/>
                </a:solidFill>
                <a:latin typeface="Arial"/>
              </a:rPr>
              <a:t>148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94A3B8"/>
                </a:solidFill>
                <a:latin typeface="Arial"/>
              </a:rPr>
              <a:t>Built-in controls (AISVS 56, ISO 42001 54, EU 10, LFPDPPP/LFPC 28)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429000"/>
            <a:ext cx="3547872" cy="269748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F87171"/>
                </a:solidFill>
                <a:latin typeface="Arial"/>
              </a:rPr>
              <a:t>Exfiltration of Secrets, IMDS &amp; PII</a:t>
            </a:r>
          </a:p>
          <a:p>
            <a:pPr>
              <a:spcBef>
                <a:spcPts val="400"/>
              </a:spcBef>
            </a:pPr>
            <a:r>
              <a:rPr sz="980">
                <a:solidFill>
                  <a:srgbClr val="E2E8F0"/>
                </a:solidFill>
                <a:latin typeface="Arial"/>
              </a:rPr>
              <a:t>Multi-turn crescendo jailbreaks and SSRF payloads engineered to extract cloud metadata (169.254.169.254), API keys, or cross-tenant records when pre-retrieval ACLs (C08.1) are absent.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5968" y="3429000"/>
            <a:ext cx="3547872" cy="269748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FBBF24"/>
                </a:solidFill>
                <a:latin typeface="Arial"/>
              </a:rPr>
              <a:t>Regulatory Injunctions &amp; Non-Conformity</a:t>
            </a:r>
          </a:p>
          <a:p>
            <a:pPr>
              <a:spcBef>
                <a:spcPts val="400"/>
              </a:spcBef>
            </a:pPr>
            <a:r>
              <a:rPr sz="980">
                <a:solidFill>
                  <a:srgbClr val="E2E8F0"/>
                </a:solidFill>
                <a:latin typeface="Arial"/>
              </a:rPr>
              <a:t>Failure to demonstrate ISO/IEC 42001 AIMS controls, GDPR/LFPDPPP ARCO cascading deletion, or LFPC Art. 56 cooling-off mechanisms triggers mandatory shutdowns and statutory fines.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3429000"/>
            <a:ext cx="3547872" cy="269748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D8B4FE"/>
                </a:solidFill>
                <a:latin typeface="Arial"/>
              </a:rPr>
              <a:t>Unappealable Algorithmic Harm</a:t>
            </a:r>
          </a:p>
          <a:p>
            <a:pPr>
              <a:spcBef>
                <a:spcPts val="400"/>
              </a:spcBef>
            </a:pPr>
            <a:r>
              <a:rPr sz="980">
                <a:solidFill>
                  <a:srgbClr val="E2E8F0"/>
                </a:solidFill>
                <a:latin typeface="Arial"/>
              </a:rPr>
              <a:t>Hallucinated compliance verdicts or biased automated decisions without human-in-the-loop appeal channels (ISO 42001 A.5.2) or ethics whistleblowing (A.3.3) erode institutional trust.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828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AEGIS</a:t>
            </a:r>
            <a:r>
              <a:rPr sz="1800" b="1">
                <a:solidFill>
                  <a:srgbClr val="60A5FA"/>
                </a:solidFill>
                <a:latin typeface="Arial"/>
              </a:rPr>
              <a:t>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1640" y="320040"/>
            <a:ext cx="3108960" cy="292608"/>
          </a:xfrm>
          <a:prstGeom prst="roundRect">
            <a:avLst/>
          </a:prstGeom>
          <a:solidFill>
            <a:srgbClr val="1221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850" b="1">
                <a:solidFill>
                  <a:srgbClr val="60A5FA"/>
                </a:solidFill>
                <a:latin typeface="Arial"/>
              </a:rPr>
              <a:t>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10896"/>
            <a:ext cx="1124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Courier New"/>
              </a:rPr>
              <a:t>04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94944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AegisAI Enterprise • Value Proposition &amp; Core Capabilities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382512"/>
            <a:ext cx="56080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Powered by Google Cloud Vertex AI (Gemini 3.8 Flash)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86384"/>
            <a:ext cx="1109441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38BDF8"/>
                </a:solidFill>
                <a:latin typeface="Arial"/>
              </a:rPr>
              <a:t>OUR SOLUTION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Arial"/>
              </a:rPr>
              <a:t>AegisAI: Comprehensive &amp; Automated AI Assurance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  <a:latin typeface="Arial"/>
              </a:rPr>
              <a:t>Transforming AI security and ISO 42001 governance auditing from weeks of manual review into deterministic, evidence-backed verification.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38528"/>
            <a:ext cx="5440680" cy="2423160"/>
          </a:xfrm>
          <a:prstGeom prst="roundRect">
            <a:avLst>
              <a:gd name="adj" fmla="val 4000"/>
            </a:avLst>
          </a:prstGeom>
          <a:solidFill>
            <a:srgbClr val="122142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60A5FA"/>
                </a:solidFill>
                <a:latin typeface="Arial"/>
              </a:rPr>
              <a:t>🛡 Shift-Left Multi-Standard Verification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Inspects architecture documents, PDFs, ZIP bundles, microservice specs, and live GCP telemetry against OWASP AI-SVS v1.0 and ISO/IEC 42001:2023 simultaneously.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Deterministic Map-Reduce evaluation with strict chapter enum schemas (buildBatchChaptersSchema).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Mandatory verbatim citation grounding (textoEvidencia &amp; fuenteEvidencia).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Pre-inference DLP masking and C02.10 multi-turn crescendo prompt injection blocking.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938528"/>
            <a:ext cx="5440680" cy="2423160"/>
          </a:xfrm>
          <a:prstGeom prst="roundRect">
            <a:avLst>
              <a:gd name="adj" fmla="val 4000"/>
            </a:avLst>
          </a:prstGeom>
          <a:solidFill>
            <a:srgbClr val="0B2E2B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4D399"/>
                </a:solidFill>
                <a:latin typeface="Arial"/>
              </a:rPr>
              <a:t>⚡ 100% Remediated Architecture &amp; Full Cookbook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Synthesizes a complete Drop-in Replacement Architecture Specification (Section 3) plus a full, untruncated Patch Cookbook (Section 4) for every finding.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Renders all 1..N failed and missing-evidence controls with zero truncation.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Smart sentence-boundary truncation (truncateAtSentenceBoundary) prevents mid-word cuts.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Accurate syntax highlighting for typescript, hcl (Terraform), yaml, python, and bash.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526280"/>
            <a:ext cx="3547872" cy="1627632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8BDF8"/>
                </a:solidFill>
                <a:latin typeface="Arial"/>
              </a:rPr>
              <a:t>Keyless GCP Live Scanner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Inspects Vertex AI, Cloud Run, Secret Manager, and IAM via ephemeral read-only caller tokens (C05.2).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4526280"/>
            <a:ext cx="3547872" cy="1627632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D8B4FE"/>
                </a:solidFill>
                <a:latin typeface="Arial"/>
              </a:rPr>
              <a:t>SHA-256 Normative Integrity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Startup verification against integrity-manifest.json (C01.4) + tenant-isolated BYOF (C08.1).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4526280"/>
            <a:ext cx="3547872" cy="1627632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FBBF24"/>
                </a:solidFill>
                <a:latin typeface="Arial"/>
              </a:rPr>
              <a:t>Continuous AIMS Telemetry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Tracks citation grounding coverage, JSON schema fidelity, latency, and human appeals (C08.4 / Clause 9.1).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828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AEGIS</a:t>
            </a:r>
            <a:r>
              <a:rPr sz="1800" b="1">
                <a:solidFill>
                  <a:srgbClr val="60A5FA"/>
                </a:solidFill>
                <a:latin typeface="Arial"/>
              </a:rPr>
              <a:t>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1640" y="320040"/>
            <a:ext cx="3108960" cy="292608"/>
          </a:xfrm>
          <a:prstGeom prst="roundRect">
            <a:avLst/>
          </a:prstGeom>
          <a:solidFill>
            <a:srgbClr val="1221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850" b="1">
                <a:solidFill>
                  <a:srgbClr val="60A5FA"/>
                </a:solidFill>
                <a:latin typeface="Arial"/>
              </a:rPr>
              <a:t>PRODUCT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10896"/>
            <a:ext cx="1124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Courier New"/>
              </a:rPr>
              <a:t>05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94944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AegisAI Enterprise • 4-Stage Product Evolution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382512"/>
            <a:ext cx="56080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AI Studio (3.8–3.6 Flash) ➔ Antigravity (3.8 Flash) ➔ Self-Audit ➔ Enterprise RC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86384"/>
            <a:ext cx="1109441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38BDF8"/>
                </a:solidFill>
                <a:latin typeface="Arial"/>
              </a:rPr>
              <a:t>END-TO-END ENGINEERING LIFECYCLE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Arial"/>
              </a:rPr>
              <a:t>How We Built, Self-Audited, and Validated AegisAI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  <a:latin typeface="Arial"/>
              </a:rPr>
              <a:t>A four-stage agentic software engineering journey from rapid Proof of Concept to Enterprise Release Candidate.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38528"/>
            <a:ext cx="5440680" cy="2057400"/>
          </a:xfrm>
          <a:prstGeom prst="roundRect">
            <a:avLst>
              <a:gd name="adj" fmla="val 4000"/>
            </a:avLst>
          </a:prstGeom>
          <a:solidFill>
            <a:srgbClr val="122142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800" b="1">
                <a:solidFill>
                  <a:srgbClr val="38BDF8"/>
                </a:solidFill>
                <a:latin typeface="Arial"/>
              </a:rPr>
              <a:t>PHASE 1 • PROOF OF CONCEPT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38BDF8"/>
                </a:solidFill>
                <a:latin typeface="Arial"/>
              </a:rPr>
              <a:t>1. Prototyped in Google AI Studio (Gemini 3.8 to 3.6 Flash)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Built the initial Proof of Concept in Google AI Studio using Gemini 3.8 Flash with dynamic fallback to Gemini 3.6 Flash.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Validated structured JSON Schema output generation, multi-chapter normative reasoning, and initial React UI scaffolding.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Proved that Flash-class models with strict system instructions and temperature 0.0 evaluate complex security controls accurately.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938528"/>
            <a:ext cx="5440680" cy="2057400"/>
          </a:xfrm>
          <a:prstGeom prst="roundRect">
            <a:avLst>
              <a:gd name="adj" fmla="val 4000"/>
            </a:avLst>
          </a:prstGeom>
          <a:solidFill>
            <a:srgbClr val="122142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800" b="1">
                <a:solidFill>
                  <a:srgbClr val="60A5FA"/>
                </a:solidFill>
                <a:latin typeface="Arial"/>
              </a:rPr>
              <a:t>PHASE 2 • FULL-STACK ENGINEERING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60A5FA"/>
                </a:solidFill>
                <a:latin typeface="Arial"/>
              </a:rPr>
              <a:t>2. Migrated to Google Antigravity (Worked Upon with 3.8 Flash)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Moved the repository into Google Antigravity (AGY) powered by Gemini 3.8 Flash.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Executed 171+ conversational engineering prompts across 7 structured phases to build the Express/TypeScript backend, parallel Map-Reduce evaluator, keyless GCP Live Scanner, Firestore persistence, and 16 bilingual PDF manuals.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Deployed to Google Cloud Run behind Identity-Aware Proxy (IAP).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133087"/>
            <a:ext cx="5440680" cy="2057400"/>
          </a:xfrm>
          <a:prstGeom prst="roundRect">
            <a:avLst>
              <a:gd name="adj" fmla="val 4000"/>
            </a:avLst>
          </a:prstGeom>
          <a:solidFill>
            <a:srgbClr val="0B2E2B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800" b="1">
                <a:solidFill>
                  <a:srgbClr val="34D399"/>
                </a:solidFill>
                <a:latin typeface="Arial"/>
              </a:rPr>
              <a:t>PHASE 3 • DOGFOODING &amp; HARDENING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34D399"/>
                </a:solidFill>
                <a:latin typeface="Arial"/>
              </a:rPr>
              <a:t>3. Self-Audited Codebase &amp; Docs Against AegisAI Itself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Uploaded AegisAI's own codebase and 10-PDF documentation bundle (Originaldocs.zip) into the live Cloud Run app to run a full OWASP AI-SVS v1.0 + ISO/IEC 42001:2023 audit.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Baseline self-audit (MULTI-2026-0437) scored 68.9% and flagged 35 gaps (6 Failed, 29 Missing Evidence).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Remediated both documentation and application, re-auditing at 97.8% (MULTI-2026-8983, 100% ISO 42001, 0 failures).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4133087"/>
            <a:ext cx="5440680" cy="2057400"/>
          </a:xfrm>
          <a:prstGeom prst="roundRect">
            <a:avLst>
              <a:gd name="adj" fmla="val 4000"/>
            </a:avLst>
          </a:prstGeom>
          <a:solidFill>
            <a:srgbClr val="261840"/>
          </a:solidFill>
          <a:ln w="1587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800" b="1">
                <a:solidFill>
                  <a:srgbClr val="D8B4FE"/>
                </a:solidFill>
                <a:latin typeface="Arial"/>
              </a:rPr>
              <a:t>PHASE 4 • ENTERPRISE FIELD VALIDATION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D8B4FE"/>
                </a:solidFill>
                <a:latin typeface="Arial"/>
              </a:rPr>
              <a:t>4. Release Candidate (RC) Presented to Industry Leaders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Presented the hardened Release Candidate (RC) to three flagship Mexican organizations: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   1. Farmacias del Ahorro (Healthcare &amp; Retail Pharmacy)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   2. Asociación Mexicana de Franquicias — AMF (National Franchise Ecosystem)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   3. Grupo Coppel (Financial Services &amp; Omnichannel Retail)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Validated multi-standard compliance (OWASP AI-SVS, ISO 42001, LFPC &amp; LFPDPPP).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828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AEGIS</a:t>
            </a:r>
            <a:r>
              <a:rPr sz="1800" b="1">
                <a:solidFill>
                  <a:srgbClr val="60A5FA"/>
                </a:solidFill>
                <a:latin typeface="Arial"/>
              </a:rPr>
              <a:t>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1640" y="320040"/>
            <a:ext cx="3108960" cy="292608"/>
          </a:xfrm>
          <a:prstGeom prst="roundRect">
            <a:avLst/>
          </a:prstGeom>
          <a:solidFill>
            <a:srgbClr val="1221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850" b="1">
                <a:solidFill>
                  <a:srgbClr val="60A5FA"/>
                </a:solidFill>
                <a:latin typeface="Arial"/>
              </a:rPr>
              <a:t>SELF-AUDIT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10896"/>
            <a:ext cx="1124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Courier New"/>
              </a:rPr>
              <a:t>06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94944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AegisAI Enterprise • Closed-Loop Self-Audit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382512"/>
            <a:ext cx="56080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Firestore Audit IDs: MULTI-2026-0437 (Baseline 68.9%) ➔ MULTI-2026-8983 (Remediated 97.8%)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86384"/>
            <a:ext cx="1109441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38BDF8"/>
                </a:solidFill>
                <a:latin typeface="Arial"/>
              </a:rPr>
              <a:t>EATING OUR OWN DOGFOOD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Arial"/>
              </a:rPr>
              <a:t>Running AegisAI's Codebase &amp; Documentation Against Itself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  <a:latin typeface="Arial"/>
              </a:rPr>
              <a:t>How AegisAI diagnosed 35 OWASP AI-SVS &amp; ISO 42001 gaps in its own prototype and verified its own remediation to 97.8%.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38528"/>
            <a:ext cx="3547872" cy="3246120"/>
          </a:xfrm>
          <a:prstGeom prst="roundRect">
            <a:avLst>
              <a:gd name="adj" fmla="val 4000"/>
            </a:avLst>
          </a:prstGeom>
          <a:solidFill>
            <a:srgbClr val="34141E"/>
          </a:solidFill>
          <a:ln w="1587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800" b="1">
                <a:solidFill>
                  <a:srgbClr val="F87171"/>
                </a:solidFill>
                <a:latin typeface="Arial"/>
              </a:rPr>
              <a:t>BEFORE HARDENING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F87171"/>
                </a:solidFill>
                <a:latin typeface="Arial"/>
              </a:rPr>
              <a:t>1. Baseline Self-Audit (MULTI-2026-0437)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Overall Score: 68.9% (Level L2)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OWASP AI-SVS v1.0: 71.8% (17 gaps)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ISO/IEC 42001:2023: 66.7% (18 gaps)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Key Findings Caught by AegisAI: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  – Writable /app/config in container (C04.1)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  – Timing-vulnerable === token check (C05.3)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  – Legacy roles/viewer on runtime SA (C05.2)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  – Missing SHA-256 normative manifest (C01.4)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  – Missing ISO 42001 AIMS Policy &amp; Appeal docs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938528"/>
            <a:ext cx="3547872" cy="3246120"/>
          </a:xfrm>
          <a:prstGeom prst="roundRect">
            <a:avLst>
              <a:gd name="adj" fmla="val 4000"/>
            </a:avLst>
          </a:prstGeom>
          <a:solidFill>
            <a:srgbClr val="122142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800" b="1">
                <a:solidFill>
                  <a:srgbClr val="38BDF8"/>
                </a:solidFill>
                <a:latin typeface="Arial"/>
              </a:rPr>
              <a:t>ENGINEERING EXECUTION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60A5FA"/>
                </a:solidFill>
                <a:latin typeface="Arial"/>
              </a:rPr>
              <a:t>2. Full-Stack Remediation in Antigravity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Generator Fixes: Untruncated Section 4 Cookbook (all 35 patches), smart sentence-boundary splitter, accurate syntax tags.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Container &amp; Cloud: chmod -R a-w /app (C04.1), Cloud IAP + SSRF/IMDS blocker (C04.3), pruned roles/viewer (C05.2).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Runtime Guardrails: SHA-256 manifest (C01.4), crescendo detector (C02.10), crypto.timingSafeEqual (C05.3), Anti-DoW quotas (C11.1), sagas (C09.4).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Docs &amp; Rules: Authored Manual 8 (ISO 42001 AIMS) &amp; passed 308/308 Firestore rules unit tests.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938528"/>
            <a:ext cx="3547872" cy="3246120"/>
          </a:xfrm>
          <a:prstGeom prst="roundRect">
            <a:avLst>
              <a:gd name="adj" fmla="val 4000"/>
            </a:avLst>
          </a:prstGeom>
          <a:solidFill>
            <a:srgbClr val="0B2E2B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800" b="1">
                <a:solidFill>
                  <a:srgbClr val="34D399"/>
                </a:solidFill>
                <a:latin typeface="Arial"/>
              </a:rPr>
              <a:t>VERIFIED RELEASE CANDIDATE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34D399"/>
                </a:solidFill>
                <a:latin typeface="Arial"/>
              </a:rPr>
              <a:t>3. Post-Fix Re-Audit (MULTI-2026-8983)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Overall Score: 97.8% (+28.9 pts)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ISO/IEC 42001:2023: 100.0% (54/54 mandatory controls passed, 0 Failed)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OWASP AI-SVS v1.0: 94.7% (45/49 controls passed, 0 Failed)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Real Firestore Telemetry: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  – Model: gemini-3.8-flash on Vertex AI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  – Input Tokens: 1,758,724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  – Output Tokens: 100,715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  – Zero critical or high-risk failures remaining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321808"/>
            <a:ext cx="11094415" cy="841248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950">
                <a:solidFill>
                  <a:srgbClr val="E2E8F0"/>
                </a:solidFill>
                <a:latin typeface="Arial"/>
              </a:rPr>
              <a:t>Why Self-Auditing Matters: Running AegisAI against its own architecture and manuals proved that the evaluator does not hallucinate approvals—it caught subtle code &amp; governance gaps (such as providedToken === configuredToken and missing ISO 42001 whistleblowing/appeal channels) and verified their closure once remediated.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828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AEGIS</a:t>
            </a:r>
            <a:r>
              <a:rPr sz="1800" b="1">
                <a:solidFill>
                  <a:srgbClr val="60A5FA"/>
                </a:solidFill>
                <a:latin typeface="Arial"/>
              </a:rPr>
              <a:t>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1640" y="320040"/>
            <a:ext cx="3108960" cy="292608"/>
          </a:xfrm>
          <a:prstGeom prst="roundRect">
            <a:avLst/>
          </a:prstGeom>
          <a:solidFill>
            <a:srgbClr val="1221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850" b="1">
                <a:solidFill>
                  <a:srgbClr val="60A5FA"/>
                </a:solidFill>
                <a:latin typeface="Arial"/>
              </a:rPr>
              <a:t>ENTERPRISE RELEASE CANDIDATE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10896"/>
            <a:ext cx="1124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Courier New"/>
              </a:rPr>
              <a:t>07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94944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AegisAI Enterprise • Release Candidate (RC) Executive Roadshow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382512"/>
            <a:ext cx="56080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Validated with Farmacias del Ahorro • Asociación Mexicana de Franquicias • Grupo Coppel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86384"/>
            <a:ext cx="1109441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38BDF8"/>
                </a:solidFill>
                <a:latin typeface="Arial"/>
              </a:rPr>
              <a:t>MARKET VALIDATION &amp; EXECUTIVE ROADSHOW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Arial"/>
              </a:rPr>
              <a:t>Release Candidate (RC) Presented to Strategic Enterprises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  <a:latin typeface="Arial"/>
              </a:rPr>
              <a:t>Following our self-audit hardening loop, the AegisAI Release Candidate was presented to three flagship Mexican organizations.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38528"/>
            <a:ext cx="3547872" cy="3246120"/>
          </a:xfrm>
          <a:prstGeom prst="roundRect">
            <a:avLst>
              <a:gd name="adj" fmla="val 4000"/>
            </a:avLst>
          </a:prstGeom>
          <a:solidFill>
            <a:srgbClr val="122142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800" b="1">
                <a:solidFill>
                  <a:srgbClr val="38BDF8"/>
                </a:solidFill>
                <a:latin typeface="Arial"/>
              </a:rPr>
              <a:t>HEALTHCARE &amp; RETAIL PHARMACY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60A5FA"/>
                </a:solidFill>
                <a:latin typeface="Arial"/>
              </a:rPr>
              <a:t>Farmacias del Ahorro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Use Case Focus: Auditing clinical/pharmacy digital assistants, prescription triage bots, and omnichannel customer service AI.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Key Capabilities Demonstrated: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  – Strict LFPDPPP sensitive health/PII data protection &amp; pre-inference DLP masking.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  – Hallucination prevention (temperature: 0.0) and human clinical escalation workflows (ISO 42001 A.5.2).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  – Continuous RAG grounding telemetry (C08.4) on Google Cloud Vertex AI.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938528"/>
            <a:ext cx="3547872" cy="3246120"/>
          </a:xfrm>
          <a:prstGeom prst="roundRect">
            <a:avLst>
              <a:gd name="adj" fmla="val 4000"/>
            </a:avLst>
          </a:prstGeom>
          <a:solidFill>
            <a:srgbClr val="0B2E2B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800" b="1">
                <a:solidFill>
                  <a:srgbClr val="34D399"/>
                </a:solidFill>
                <a:latin typeface="Arial"/>
              </a:rPr>
              <a:t>NATIONAL FRANCHISE ECOSYSTEM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34D399"/>
                </a:solidFill>
                <a:latin typeface="Arial"/>
              </a:rPr>
              <a:t>Asociación Mexicana de Franquicias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Use Case Focus: Standardizing AI adoption, customer chatbots, and automated marketing compliance across hundreds of member franchises.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Key Capabilities Demonstrated: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  – LFPC (Profeco 2026) compliance: preventing deceptive AI commercial patterns and enforcing Art. 56 5-day cooling-off retraction.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  – BYOF Engine: Custom franchise governance templates with low-cost Flash evaluations ($0.08/audit).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938528"/>
            <a:ext cx="3547872" cy="3246120"/>
          </a:xfrm>
          <a:prstGeom prst="roundRect">
            <a:avLst>
              <a:gd name="adj" fmla="val 4000"/>
            </a:avLst>
          </a:prstGeom>
          <a:solidFill>
            <a:srgbClr val="261840"/>
          </a:solidFill>
          <a:ln w="1587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800" b="1">
                <a:solidFill>
                  <a:srgbClr val="D8B4FE"/>
                </a:solidFill>
                <a:latin typeface="Arial"/>
              </a:rPr>
              <a:t>FINANCIAL SERVICES &amp; RETAIL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D8B4FE"/>
                </a:solidFill>
                <a:latin typeface="Arial"/>
              </a:rPr>
              <a:t>Grupo Coppel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Use Case Focus: High-scale credit scoring ML, fraud detection engines, and enterprise GenAI engineering governance.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Key Capabilities Demonstrated: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  – Simultaneous OWASP AI-SVS v1.0 (Level L2/L3) + ISO/IEC 42001:2023 certification readiness.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  – Multi-tenant domain isolation (C05.4, C08.1), Cloud IAP Zero-Trust perimeter, and keyless GCP Live Scanner.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  – Drop-in remediated architecture &amp; Terraform/TypeScript cookbook generation.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321808"/>
            <a:ext cx="11094415" cy="841248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950">
                <a:solidFill>
                  <a:srgbClr val="E2E8F0"/>
                </a:solidFill>
                <a:latin typeface="Arial"/>
              </a:rPr>
              <a:t>Executive Feedback Highlights: Enterprise stakeholders highlighted AegisAI's ability to combine global technical standards (OWASP AI-SVS + ISO 42001) with Mexican statutory law (LFPDPPP + LFPC) while delivering ready-to-deploy remediation code at a fraction of traditional consulting costs.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828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AEGIS</a:t>
            </a:r>
            <a:r>
              <a:rPr sz="1800" b="1">
                <a:solidFill>
                  <a:srgbClr val="60A5FA"/>
                </a:solidFill>
                <a:latin typeface="Arial"/>
              </a:rPr>
              <a:t>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1640" y="320040"/>
            <a:ext cx="3108960" cy="292608"/>
          </a:xfrm>
          <a:prstGeom prst="roundRect">
            <a:avLst/>
          </a:prstGeom>
          <a:solidFill>
            <a:srgbClr val="1221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850" b="1">
                <a:solidFill>
                  <a:srgbClr val="60A5FA"/>
                </a:solidFill>
                <a:latin typeface="Arial"/>
              </a:rPr>
              <a:t>UNIT ECONOMICS &amp; MODEL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10896"/>
            <a:ext cx="1124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Courier New"/>
              </a:rPr>
              <a:t>08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94944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AegisAI Enterprise • Unit Economics &amp; Model Cost Benchmark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382512"/>
            <a:ext cx="56080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Telemetry Source: Cloud Firestore (aegis-ai-db) Audits MULTI-2026-0437, 8983, 0507 &amp; 1250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86384"/>
            <a:ext cx="1109441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38BDF8"/>
                </a:solidFill>
                <a:latin typeface="Arial"/>
              </a:rPr>
              <a:t>FINOPS ANALYSIS: COST PER COMPLETE OWASP AI-SVS + ISO/IEC 42001 AUDIT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Arial"/>
              </a:rPr>
              <a:t>Gemini (3.8 Flash, 3.1 Pro, 4.0 Argon) vs. Claude (Fable 5.1, Opus 5.5)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  <a:latin typeface="Arial"/>
              </a:rPr>
              <a:t>Calculated from real production Firestore token telemetry across 12 Map-Reduce LLM calls per full dual-standard audit.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901952"/>
          <a:ext cx="11094415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9055"/>
                <a:gridCol w="2011680"/>
                <a:gridCol w="2194560"/>
                <a:gridCol w="2377440"/>
                <a:gridCol w="2011680"/>
              </a:tblGrid>
              <a:tr h="38862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38BDF8"/>
                          </a:solidFill>
                          <a:latin typeface="Arial"/>
                        </a:rPr>
                        <a:t>Model Tier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38BDF8"/>
                          </a:solidFill>
                          <a:latin typeface="Arial"/>
                        </a:rPr>
                        <a:t>API Rate Card (In / Out per 1M)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38BDF8"/>
                          </a:solidFill>
                          <a:latin typeface="Arial"/>
                        </a:rPr>
                        <a:t>Standard Audit (370K In + 40K Out)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38BDF8"/>
                          </a:solidFill>
                          <a:latin typeface="Arial"/>
                        </a:rPr>
                        <a:t>Full 10-PDF Bundle (1.64M In + 86.5K Out)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38BDF8"/>
                          </a:solidFill>
                          <a:latin typeface="Arial"/>
                        </a:rPr>
                        <a:t>Multiplier vs. Gemini 3.8 Flash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Gemini 3.8 Flash (Production)</a:t>
                      </a:r>
                    </a:p>
                  </a:txBody>
                  <a:tcPr anchor="ctr">
                    <a:solidFill>
                      <a:srgbClr val="0B2E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34D399"/>
                          </a:solidFill>
                          <a:latin typeface="Arial"/>
                        </a:rPr>
                        <a:t>$0.15 / $0.60</a:t>
                      </a:r>
                    </a:p>
                  </a:txBody>
                  <a:tcPr anchor="ctr">
                    <a:solidFill>
                      <a:srgbClr val="0B2E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34D399"/>
                          </a:solidFill>
                          <a:latin typeface="Arial"/>
                        </a:rPr>
                        <a:t>$0.08 USD ($0.0795)</a:t>
                      </a:r>
                    </a:p>
                  </a:txBody>
                  <a:tcPr anchor="ctr">
                    <a:solidFill>
                      <a:srgbClr val="0B2E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34D399"/>
                          </a:solidFill>
                          <a:latin typeface="Arial"/>
                        </a:rPr>
                        <a:t>$0.30 USD ($0.2979)</a:t>
                      </a:r>
                    </a:p>
                  </a:txBody>
                  <a:tcPr anchor="ctr">
                    <a:solidFill>
                      <a:srgbClr val="0B2E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34D399"/>
                          </a:solidFill>
                          <a:latin typeface="Arial"/>
                        </a:rPr>
                        <a:t>1.0x (Baseline)</a:t>
                      </a:r>
                    </a:p>
                  </a:txBody>
                  <a:tcPr anchor="ctr">
                    <a:solidFill>
                      <a:srgbClr val="0B2E2B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Gemini 3.1 Pro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Arial"/>
                        </a:rPr>
                        <a:t>$1.25 / $10.00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Arial"/>
                        </a:rPr>
                        <a:t>$0.86 USD ($0.8625)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Arial"/>
                        </a:rPr>
                        <a:t>$2.92 USD ($2.9150)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Arial"/>
                        </a:rPr>
                        <a:t>9.8x – 10.8x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Gemini 4.0 Argon (Frontier)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Arial"/>
                        </a:rPr>
                        <a:t>$2.00 / $12.00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Arial"/>
                        </a:rPr>
                        <a:t>$1.22 USD ($1.2200)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Arial"/>
                        </a:rPr>
                        <a:t>$4.32 USD ($4.3180)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Arial"/>
                        </a:rPr>
                        <a:t>14.5x – 15.3x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Claude Fable 5.1 Medium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Arial"/>
                        </a:rPr>
                        <a:t>$3.00 / $15.00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Arial"/>
                        </a:rPr>
                        <a:t>$1.71 USD ($1.7100)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Arial"/>
                        </a:rPr>
                        <a:t>$6.22 USD ($6.2175)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Arial"/>
                        </a:rPr>
                        <a:t>20.9x – 21.5x Costlier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Claude Opus 5.5 Max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Arial"/>
                        </a:rPr>
                        <a:t>$15.00 / $75.00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Arial"/>
                        </a:rPr>
                        <a:t>$8.55 USD ($8.5500)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Arial"/>
                        </a:rPr>
                        <a:t>$31.09 USD ($31.0875)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Arial"/>
                        </a:rPr>
                        <a:t>104.4x – 107.5x Costlier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48640" y="4407408"/>
            <a:ext cx="3547872" cy="173736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4D399"/>
                </a:solidFill>
                <a:latin typeface="Arial"/>
              </a:rPr>
              <a:t>Real Telemetry Basis (Firestore)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E2E8F0"/>
                </a:solidFill>
                <a:latin typeface="Arial"/>
              </a:rPr>
              <a:t>• Standard Audit (MULTI-2026-0507 / 1250): Avg 368,827 input + 39,812 output tokens.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E2E8F0"/>
                </a:solidFill>
                <a:latin typeface="Arial"/>
              </a:rPr>
              <a:t>• Full 10-PDF ZIP Audit (MULTI-2026-0437 / 8983): Avg 1,638,410 input + 86,495 output tokens across 12 batch calls (~136K context/call).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4407408"/>
            <a:ext cx="3547872" cy="173736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60A5FA"/>
                </a:solidFill>
                <a:latin typeface="Arial"/>
              </a:rPr>
              <a:t>Annual FinOps @ 1,000 Audits/Yr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E2E8F0"/>
                </a:solidFill>
                <a:latin typeface="Arial"/>
              </a:rPr>
              <a:t>• Gemini 3.8 Flash: $298 / yr (Full ZIP) or $80 / yr (Std)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E2E8F0"/>
                </a:solidFill>
                <a:latin typeface="Arial"/>
              </a:rPr>
              <a:t>• Gemini 3.1 Pro: $2,915 / yr (Full ZIP) or $863 / yr (Std)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E2E8F0"/>
                </a:solidFill>
                <a:latin typeface="Arial"/>
              </a:rPr>
              <a:t>• Gemini 4.0 Argon: $4,318 / yr (Full ZIP) or $1,220 / yr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4407408"/>
            <a:ext cx="3547872" cy="173736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FBBF24"/>
                </a:solidFill>
                <a:latin typeface="Arial"/>
              </a:rPr>
              <a:t>Competitor Spend @ 1,000 Audits/Yr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E2E8F0"/>
                </a:solidFill>
                <a:latin typeface="Arial"/>
              </a:rPr>
              <a:t>• Claude Fable 5.1 Medium: $6,218 / yr (21x higher)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E2E8F0"/>
                </a:solidFill>
                <a:latin typeface="Arial"/>
              </a:rPr>
              <a:t>• Claude Opus 5.5 Max: $31,088 / yr (104x higher)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E2E8F0"/>
                </a:solidFill>
                <a:latin typeface="Arial"/>
              </a:rPr>
              <a:t>• Savings with Gemini 3.8 Flash: &gt;99% cost reduction.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828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AEGIS</a:t>
            </a:r>
            <a:r>
              <a:rPr sz="1800" b="1">
                <a:solidFill>
                  <a:srgbClr val="60A5FA"/>
                </a:solidFill>
                <a:latin typeface="Arial"/>
              </a:rPr>
              <a:t>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1640" y="320040"/>
            <a:ext cx="3108960" cy="292608"/>
          </a:xfrm>
          <a:prstGeom prst="roundRect">
            <a:avLst/>
          </a:prstGeom>
          <a:solidFill>
            <a:srgbClr val="1221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850" b="1">
                <a:solidFill>
                  <a:srgbClr val="60A5FA"/>
                </a:solidFill>
                <a:latin typeface="Arial"/>
              </a:rPr>
              <a:t>TOTAL BUILD COST (TCO)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10896"/>
            <a:ext cx="1124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Courier New"/>
              </a:rPr>
              <a:t>09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94944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AegisAI Enterprise • Total Cost of Development (TCO)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382512"/>
            <a:ext cx="56080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99.0% Savings vs. Claude Opus 5.5 Max • 99.98% Savings vs. Traditional Software Staffing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86384"/>
            <a:ext cx="1109441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38BDF8"/>
                </a:solidFill>
                <a:latin typeface="Arial"/>
              </a:rPr>
              <a:t>ENGINEERING ROI &amp; DEVELOPMENT COST BREAKDOWN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Arial"/>
              </a:rPr>
              <a:t>How Much Money We Spent Creating AegisAI: $19.41 USD Total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  <a:latin typeface="Arial"/>
              </a:rPr>
              <a:t>Complete accounting of all AI token consumption and Google Cloud infrastructure from initial AI Studio PoC to Enterprise RC.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74519"/>
            <a:ext cx="2606040" cy="114300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2400" b="1">
                <a:solidFill>
                  <a:srgbClr val="34D399"/>
                </a:solidFill>
                <a:latin typeface="Arial"/>
              </a:rPr>
              <a:t>$19.41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94A3B8"/>
                </a:solidFill>
                <a:latin typeface="Arial"/>
              </a:rPr>
              <a:t>Total Money Spent creating AegisAI (Tokens + GCP Infra)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74136" y="1874519"/>
            <a:ext cx="2606040" cy="114300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2400" b="1">
                <a:solidFill>
                  <a:srgbClr val="38BDF8"/>
                </a:solidFill>
                <a:latin typeface="Arial"/>
              </a:rPr>
              <a:t>~71.0M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94A3B8"/>
                </a:solidFill>
                <a:latin typeface="Arial"/>
              </a:rPr>
              <a:t>Total Input Tokens across AI Studio, Antigravity &amp; Audits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874519"/>
            <a:ext cx="2606040" cy="114300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587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2400" b="1">
                <a:solidFill>
                  <a:srgbClr val="FBBF24"/>
                </a:solidFill>
                <a:latin typeface="Arial"/>
              </a:rPr>
              <a:t>$1,931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94A3B8"/>
                </a:solidFill>
                <a:latin typeface="Arial"/>
              </a:rPr>
              <a:t>What the exact same token volume costs on Claude Opus 5.5 Max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34272" y="1874519"/>
            <a:ext cx="2606040" cy="114300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587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2400" b="1">
                <a:solidFill>
                  <a:srgbClr val="D8B4FE"/>
                </a:solidFill>
                <a:latin typeface="Arial"/>
              </a:rPr>
              <a:t>~$95,000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94A3B8"/>
                </a:solidFill>
                <a:latin typeface="Arial"/>
              </a:rPr>
              <a:t>Equivalent traditional engineering cost (4 engineers × 3 mos)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48640" y="3154680"/>
          <a:ext cx="11094415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3230575"/>
                <a:gridCol w="1371600"/>
                <a:gridCol w="1371600"/>
              </a:tblGrid>
              <a:tr h="42454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8BDF8"/>
                          </a:solidFill>
                          <a:latin typeface="Arial"/>
                        </a:rPr>
                        <a:t>Development Phase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8BDF8"/>
                          </a:solidFill>
                          <a:latin typeface="Arial"/>
                        </a:rPr>
                        <a:t>Platform &amp; Model Used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8BDF8"/>
                          </a:solidFill>
                          <a:latin typeface="Arial"/>
                        </a:rPr>
                        <a:t>Volume / Engineering Activity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8BDF8"/>
                          </a:solidFill>
                          <a:latin typeface="Arial"/>
                        </a:rPr>
                        <a:t>Actual Spend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8BDF8"/>
                          </a:solidFill>
                          <a:latin typeface="Arial"/>
                        </a:rPr>
                        <a:t>If Run on Opus 5.5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1. Proof of Concept (PoC)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Google AI Studio (Gemini 3.8–3.6 Flash)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~45 iterations • ~4.2M In / ~0.9M Out tokens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$1.17 USD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$130.50 USD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2. Core Full-Stack &amp; Manuals (Phases 1–7)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Google Antigravity (Gemini 3.8 Flash)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171 logged prompts + 16 PDFs • ~38.0M In / ~6.5M Out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$9.60 USD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$1,057.50 USD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3. Cloud Hardening &amp; OWASP/ISO Fixes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Google Antigravity (Gemini 3.8 Flash)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Cloud IAP, 308 rules tests, 35 controls • ~24.0M In / ~3.8M Out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$5.88 USD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$645.00 USD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4. Live Self-Audits &amp; QA Suites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Vertex AI (Gemini 3.8 Flash)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MULTI-2026-0437, 8983, 0507, 1250 • ~4.8M In / ~0.32M Out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$0.91 USD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$96.00 USD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5. Google Cloud Infrastructure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Cloud Build, Cloud Run, Firestore, IAM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9 container builds, scale-to-zero runtime, aegis-ai-db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$1.85 USD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$1.85 USD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</a:tr>
              <a:tr h="42454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 APP CREATION SPEND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AI Studio + Antigravity + Google Cloud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~71.0M Input + ~11.52M Output Tokens + Cloud Infra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$19.41 USD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$1,930.85 USD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828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AEGIS</a:t>
            </a:r>
            <a:r>
              <a:rPr sz="1800" b="1">
                <a:solidFill>
                  <a:srgbClr val="60A5FA"/>
                </a:solidFill>
                <a:latin typeface="Arial"/>
              </a:rPr>
              <a:t>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1640" y="320040"/>
            <a:ext cx="3108960" cy="292608"/>
          </a:xfrm>
          <a:prstGeom prst="roundRect">
            <a:avLst/>
          </a:prstGeom>
          <a:solidFill>
            <a:srgbClr val="1221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850" b="1">
                <a:solidFill>
                  <a:srgbClr val="60A5FA"/>
                </a:solidFill>
                <a:latin typeface="Arial"/>
              </a:rPr>
              <a:t>GOVERNANCE &amp; STANDARDS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10896"/>
            <a:ext cx="1124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Courier New"/>
              </a:rPr>
              <a:t>10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94944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AegisAI Enterprise • Frameworks &amp; Compliance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382512"/>
            <a:ext cx="56080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Aligned with OWASP AI-SVS v1.0, ISO/IEC 42001:2023, NIST AI RMF &amp; EU AI 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86384"/>
            <a:ext cx="1109441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38BDF8"/>
                </a:solidFill>
                <a:latin typeface="Arial"/>
              </a:rPr>
              <a:t>COMPLIANCE MATRIX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Arial"/>
              </a:rPr>
              <a:t>Multi-Standard Framework Support &amp; ISO/IEC 42001 AIMS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  <a:latin typeface="Arial"/>
              </a:rPr>
              <a:t>Simultaneous evaluation across global technical security standards, management systems, and regional privacy statutes.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901952"/>
          <a:ext cx="1109441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468880"/>
                <a:gridCol w="4876495"/>
                <a:gridCol w="1645920"/>
              </a:tblGrid>
              <a:tr h="66751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8BDF8"/>
                          </a:solidFill>
                          <a:latin typeface="Arial"/>
                        </a:rPr>
                        <a:t>Standard / Framework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8BDF8"/>
                          </a:solidFill>
                          <a:latin typeface="Arial"/>
                        </a:rPr>
                        <a:t>Technical &amp; Governance Scope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8BDF8"/>
                          </a:solidFill>
                          <a:latin typeface="Arial"/>
                        </a:rPr>
                        <a:t>Key Controls Verified &amp; Enforced by AegisAI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8BDF8"/>
                          </a:solidFill>
                          <a:latin typeface="Arial"/>
                        </a:rPr>
                        <a:t>Assurance Level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OWASP AI-SVS v1.0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AI Security Verification Standard (12 Chapters)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C01.4 SHA-256 Manifest, C02.10 Crescendo Guard, C04.1 Read-Only Container, C04.3 Cloud IAP &amp; SSRF Block, C05.2–C05.4 Constant-Time Auth &amp; IAM, C08.1/C08.4 RAG ACLs, C09.4 Sagas, C10.1–C10.5 MCP Security, C11.1/C11.4 Anti-DoW &amp; Logprobs Off, C12.2 SIEM Alerts.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L1 / L2 / L3 Ready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ISO/IEC 42001:2023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AI Management System (AIMS Clauses 4–10 &amp; Annex A)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Clause 4.1/4.2 Context &amp; Stakeholders, Clause 5/A.2.1/A.2.3 Corporate AI Policy, Clause 7/A.3.3 Competency &amp; Whistleblowing, A.4.1 AI Asset Inventory, A.5.1–A.5.3 Impact Assessment &amp; Human Appeal, Clause 9 KPIs &amp; Internal Audit, A.9.1/A.9.2 Acceptable Use.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Certification Ready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Mexican Regulatory (2026)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Consumer Protection (LFPC) &amp; Personal Data (LFPDPPP)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Algorithmic transparency, deceptive commercial pattern prevention, Art. 56 5-day cooling-off retraction, ARCO cascading deletion, and DLP PII masking.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Regional Statutory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BYOF Custom Framework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Bring Your Own Framework (Multi-Tenant)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Admin-authenticated ingestion (C05.3) with SHA-256 integrity checks (C01.4) and pre-retrieval tenant domain ACL filtering (allowedDomains, C08.1).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Tenant Isolated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48640" y="5376672"/>
            <a:ext cx="11094415" cy="786384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919">
                <a:solidFill>
                  <a:srgbClr val="E2E8F0"/>
                </a:solidFill>
                <a:latin typeface="Arial"/>
              </a:rPr>
              <a:t>Unified Cross-Framework Map-Reduce: Evaluates 103+ combined OWASP AI-SVS &amp; ISO/IEC 42001 controls in parallel batches using constrained chapter ID enums so ISO Clauses 9/10 and Annex A.9/A.10 never collide with OWASP C09/C10.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828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AEGIS</a:t>
            </a:r>
            <a:r>
              <a:rPr sz="1800" b="1">
                <a:solidFill>
                  <a:srgbClr val="60A5FA"/>
                </a:solidFill>
                <a:latin typeface="Arial"/>
              </a:rPr>
              <a:t>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1640" y="320040"/>
            <a:ext cx="3108960" cy="292608"/>
          </a:xfrm>
          <a:prstGeom prst="roundRect">
            <a:avLst/>
          </a:prstGeom>
          <a:solidFill>
            <a:srgbClr val="1221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850" b="1">
                <a:solidFill>
                  <a:srgbClr val="60A5FA"/>
                </a:solidFill>
                <a:latin typeface="Arial"/>
              </a:rPr>
              <a:t>SYSTEM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10896"/>
            <a:ext cx="1124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Courier New"/>
              </a:rPr>
              <a:t>11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94944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AegisAI Enterprise • C4 Container &amp; Security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382512"/>
            <a:ext cx="56080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Deployed on Google Cloud Run (Revision aegis-ai-00013)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86384"/>
            <a:ext cx="1109441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38BDF8"/>
                </a:solidFill>
                <a:latin typeface="Arial"/>
              </a:rPr>
              <a:t>SOFTWARE ARCHITECTURE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Arial"/>
              </a:rPr>
              <a:t>4-Layer Zero-Trust &amp; Defense-in-Depth Architecture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  <a:latin typeface="Arial"/>
              </a:rPr>
              <a:t>Hardened serverless architecture deployed on Google Cloud Run behind Identity-Aware Proxy (IAP) with keyless Vertex AI ADC inference.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38528"/>
            <a:ext cx="2633472" cy="324612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8BDF8"/>
                </a:solidFill>
                <a:latin typeface="Arial"/>
              </a:rPr>
              <a:t>1. Perimeter &amp; SPA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Cloud IAP (--no-allow-unauthenticated)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React 19 + TS + Vite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Firebase Auth OAuth 2.0 domain allowlist (google.com, altostrat.com)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Embedded ISO 42001 Policy, Appeal (A.5.2) &amp; Whistleblowing (A.3.3) UI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4992" y="1938528"/>
            <a:ext cx="2633472" cy="324612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60A5FA"/>
                </a:solidFill>
                <a:latin typeface="Arial"/>
              </a:rPr>
              <a:t>2. Hardened API &amp; Model Armor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Read-Only Container (chmod -R a-w /app, C04.1)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Google Cloud Model Armor inline prompt/response sanitizer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Constant-time token check (crypto.timingSafeEqual, C05.3)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DNS Rebinding Guard (C10.5) &amp; MCP Signature Verifier (C10.1)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Anti-DoW Quotas (C11.1)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938528"/>
            <a:ext cx="2633472" cy="324612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4D399"/>
                </a:solidFill>
                <a:latin typeface="Arial"/>
              </a:rPr>
              <a:t>3. Keyless Vertex AI &amp; Multi-LLM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Vertex AI (gemini-3.8-flash) via keyless IAM ADC (no Gemini API key needed)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Model Garden / Model Registry signed provenance (C01.4)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Multi-Provider Engine (Claude, OpenRouter, OpenAI, Local Proxy)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Multi-Turn Crescendo Detector (C02.10) &amp; Logprobs Off (C11.4)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Outbound SSRF/IMDS Block (C04.3)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840" y="1938528"/>
            <a:ext cx="2633472" cy="324612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D8B4FE"/>
                </a:solidFill>
                <a:latin typeface="Arial"/>
              </a:rPr>
              <a:t>4. Data, AutoSxS &amp; SCC AI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Cloud Firestore (aegis-ai-db) via Admin SDK (308/308 rules tests)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Vertex Evaluation Service (AutoSxS) &amp; Model Monitoring (skew/drift)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Security Command Center (SCC) AI Protection real-time SOC alerts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SHA-256 Manifest (C01.4) &amp; Compensating Sagas (C09.4)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321808"/>
            <a:ext cx="11094415" cy="841248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930">
                <a:solidFill>
                  <a:srgbClr val="E2E8F0"/>
                </a:solidFill>
                <a:latin typeface="Arial"/>
              </a:rPr>
              <a:t>Zero-Trust Isolation &amp; SCC AI Alerting (C12.2): Runtime state writes exclusively to Firestore (system_config/admin_settings) and ephemeral /tmp/aegis-runtime-cache. Every prompt injection or security event emits a real-time SCC AI Protection alert to the SOC.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828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AEGIS</a:t>
            </a:r>
            <a:r>
              <a:rPr sz="1800" b="1">
                <a:solidFill>
                  <a:srgbClr val="60A5FA"/>
                </a:solidFill>
                <a:latin typeface="Arial"/>
              </a:rPr>
              <a:t>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1640" y="320040"/>
            <a:ext cx="3108960" cy="292608"/>
          </a:xfrm>
          <a:prstGeom prst="roundRect">
            <a:avLst/>
          </a:prstGeom>
          <a:solidFill>
            <a:srgbClr val="1221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850" b="1">
                <a:solidFill>
                  <a:srgbClr val="60A5FA"/>
                </a:solidFill>
                <a:latin typeface="Arial"/>
              </a:rPr>
              <a:t>GOOGLE CLOUD AI PROTECTION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10896"/>
            <a:ext cx="1124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Courier New"/>
              </a:rPr>
              <a:t>12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94944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AegisAI Enterprise • ISO/IEC 42001 Phases 3, 4 &amp; 5 Protection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382512"/>
            <a:ext cx="56080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Model Garden/Registry • Model Armor • Vertex Evaluation (AutoSxS) • Model Monitoring • SCC AI Protection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86384"/>
            <a:ext cx="1109441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38BDF8"/>
                </a:solidFill>
                <a:latin typeface="Arial"/>
              </a:rPr>
              <a:t>GOOGLE CLOUD AI PROTECTION LIFECYCLE (ISO/IEC 42001)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Arial"/>
              </a:rPr>
              <a:t>5 Native Google Cloud Security &amp; Governance Products Across Phases 3, 4 &amp; 5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  <a:latin typeface="Arial"/>
              </a:rPr>
              <a:t>How AegisAI operationalizes ISO/IEC 42001:2023 and OWASP AI-SVS v1.0 across Development, Evaluation, and Production Deployment.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38528"/>
            <a:ext cx="3547872" cy="3246120"/>
          </a:xfrm>
          <a:prstGeom prst="roundRect">
            <a:avLst>
              <a:gd name="adj" fmla="val 4000"/>
            </a:avLst>
          </a:prstGeom>
          <a:solidFill>
            <a:srgbClr val="122142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800" b="1">
                <a:solidFill>
                  <a:srgbClr val="38BDF8"/>
                </a:solidFill>
                <a:latin typeface="Arial"/>
              </a:rPr>
              <a:t>PHASE 3 • DESIGN &amp; BUILD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38BDF8"/>
                </a:solidFill>
                <a:latin typeface="Arial"/>
              </a:rPr>
              <a:t>Phase 3: Development &amp; Protections</a:t>
            </a:r>
          </a:p>
          <a:p>
            <a:pPr>
              <a:spcBef>
                <a:spcPts val="400"/>
              </a:spcBef>
            </a:pPr>
            <a:r>
              <a:rPr sz="869">
                <a:solidFill>
                  <a:srgbClr val="E2E8F0"/>
                </a:solidFill>
                <a:latin typeface="Arial"/>
              </a:rPr>
              <a:t>Objective: AI System Design, Development &amp; Supply Chain Protection.</a:t>
            </a:r>
          </a:p>
          <a:p>
            <a:pPr>
              <a:spcBef>
                <a:spcPts val="400"/>
              </a:spcBef>
            </a:pPr>
            <a:r>
              <a:rPr sz="869">
                <a:solidFill>
                  <a:srgbClr val="E2E8F0"/>
                </a:solidFill>
                <a:latin typeface="Arial"/>
              </a:rPr>
              <a:t>• Visual &amp; Evidence-Based Gap Map: Maps current vs. desired state (L1/L2/L3) with verbatim evidence.</a:t>
            </a:r>
          </a:p>
          <a:p>
            <a:pPr>
              <a:spcBef>
                <a:spcPts val="400"/>
              </a:spcBef>
            </a:pPr>
            <a:r>
              <a:rPr sz="869">
                <a:solidFill>
                  <a:srgbClr val="E2E8F0"/>
                </a:solidFill>
                <a:latin typeface="Arial"/>
              </a:rPr>
              <a:t>• Model Garden / Model Registry: Reviewed library (Garden) &amp; private library (Registry). Models are signed &amp; verified by Google and partners—preventing untrusted internet models with backdoors (ISO A.6.1.2 / A.7.3, C01.4).</a:t>
            </a:r>
          </a:p>
          <a:p>
            <a:pPr>
              <a:spcBef>
                <a:spcPts val="400"/>
              </a:spcBef>
            </a:pPr>
            <a:r>
              <a:rPr sz="869">
                <a:solidFill>
                  <a:srgbClr val="E2E8F0"/>
                </a:solidFill>
                <a:latin typeface="Arial"/>
              </a:rPr>
              <a:t>• Model Armor: Inline in front of LLMs. Sanitizes inputs &amp; outputs in real time, blocks prompt injections &amp; jailbreaks, and filters toxic content from user and model responses alike (ISO A.6.2.6, C02.10).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938528"/>
            <a:ext cx="3547872" cy="3246120"/>
          </a:xfrm>
          <a:prstGeom prst="roundRect">
            <a:avLst>
              <a:gd name="adj" fmla="val 4000"/>
            </a:avLst>
          </a:prstGeom>
          <a:solidFill>
            <a:srgbClr val="261840"/>
          </a:solidFill>
          <a:ln w="1587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800" b="1">
                <a:solidFill>
                  <a:srgbClr val="D8B4FE"/>
                </a:solidFill>
                <a:latin typeface="Arial"/>
              </a:rPr>
              <a:t>PHASE 4 • EVALUATION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D8B4FE"/>
                </a:solidFill>
                <a:latin typeface="Arial"/>
              </a:rPr>
              <a:t>Phase 4: Evaluation of Controls</a:t>
            </a:r>
          </a:p>
          <a:p>
            <a:pPr>
              <a:spcBef>
                <a:spcPts val="400"/>
              </a:spcBef>
            </a:pPr>
            <a:r>
              <a:rPr sz="869">
                <a:solidFill>
                  <a:srgbClr val="E2E8F0"/>
                </a:solidFill>
                <a:latin typeface="Arial"/>
              </a:rPr>
              <a:t>Objective: Automated Review &amp; Audit Trail of Applied Controls.</a:t>
            </a:r>
          </a:p>
          <a:p>
            <a:pPr>
              <a:spcBef>
                <a:spcPts val="400"/>
              </a:spcBef>
            </a:pPr>
            <a:r>
              <a:rPr sz="869">
                <a:solidFill>
                  <a:srgbClr val="E2E8F0"/>
                </a:solidFill>
                <a:latin typeface="Arial"/>
              </a:rPr>
              <a:t>• Vertex Evaluation Service (AutoSxS): Integrated Vertex AI evaluation framework using AutoSxS—which automatically categorizes and grades model responses like a teacher grading a student's homework.</a:t>
            </a:r>
          </a:p>
          <a:p>
            <a:pPr>
              <a:spcBef>
                <a:spcPts val="400"/>
              </a:spcBef>
            </a:pPr>
            <a:r>
              <a:rPr sz="869">
                <a:solidFill>
                  <a:srgbClr val="E2E8F0"/>
                </a:solidFill>
                <a:latin typeface="Arial"/>
              </a:rPr>
              <a:t>• Automated Safety Metrics: Evaluates hate speech, harassment, sexually explicit content, and dangerous content.</a:t>
            </a:r>
          </a:p>
          <a:p>
            <a:pPr>
              <a:spcBef>
                <a:spcPts val="400"/>
              </a:spcBef>
            </a:pPr>
            <a:r>
              <a:rPr sz="869">
                <a:solidFill>
                  <a:srgbClr val="E2E8F0"/>
                </a:solidFill>
                <a:latin typeface="Arial"/>
              </a:rPr>
              <a:t>• ISO 42001 Audit Trail: Faster and far more cost-effective than manual review by human specialists, generating the immutable audit trail required by ISO/IEC 42001 Clause 9.1 &amp; A.6.2.4 (OWASP C08.4).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938528"/>
            <a:ext cx="3547872" cy="3246120"/>
          </a:xfrm>
          <a:prstGeom prst="roundRect">
            <a:avLst>
              <a:gd name="adj" fmla="val 4000"/>
            </a:avLst>
          </a:prstGeom>
          <a:solidFill>
            <a:srgbClr val="0B2E2B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800" b="1">
                <a:solidFill>
                  <a:srgbClr val="34D399"/>
                </a:solidFill>
                <a:latin typeface="Arial"/>
              </a:rPr>
              <a:t>PHASE 5 • DEPLOYMENT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34D399"/>
                </a:solidFill>
                <a:latin typeface="Arial"/>
              </a:rPr>
              <a:t>Phase 5: Controlled Deployment</a:t>
            </a:r>
          </a:p>
          <a:p>
            <a:pPr>
              <a:spcBef>
                <a:spcPts val="400"/>
              </a:spcBef>
            </a:pPr>
            <a:r>
              <a:rPr sz="869">
                <a:solidFill>
                  <a:srgbClr val="E2E8F0"/>
                </a:solidFill>
                <a:latin typeface="Arial"/>
              </a:rPr>
              <a:t>Objective: Controlled Production Rollout, Drift Detection &amp; SOC Response.</a:t>
            </a:r>
          </a:p>
          <a:p>
            <a:pPr>
              <a:spcBef>
                <a:spcPts val="400"/>
              </a:spcBef>
            </a:pPr>
            <a:r>
              <a:rPr sz="869">
                <a:solidFill>
                  <a:srgbClr val="E2E8F0"/>
                </a:solidFill>
                <a:latin typeface="Arial"/>
              </a:rPr>
              <a:t>• Vertex AI Model Monitoring: Evaluates production performance by detecting training-serving skew (when live data differs from training data) and drift (when the world changes and the model becomes obsolete), alerting immediately if safety degrades (ISO Clause 9.1 / A.6.2.6).</a:t>
            </a:r>
          </a:p>
          <a:p>
            <a:pPr>
              <a:spcBef>
                <a:spcPts val="400"/>
              </a:spcBef>
            </a:pPr>
            <a:r>
              <a:rPr sz="869">
                <a:solidFill>
                  <a:srgbClr val="E2E8F0"/>
                </a:solidFill>
                <a:latin typeface="Arial"/>
              </a:rPr>
              <a:t>• Security Command Center (SCC) with AI Protection: Threat &amp; vulnerability detection integrated with Vertex AI. Prompt injection attempts surface as real-time security alerts so the SOC can respond in time (ISO A.6.2.8 / C12.2).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321808"/>
            <a:ext cx="11094415" cy="841248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910">
                <a:solidFill>
                  <a:srgbClr val="E2E8F0"/>
                </a:solidFill>
                <a:latin typeface="Arial"/>
              </a:rPr>
              <a:t>End-to-End Live GCP Scanner &amp; Remediated Blueprint Integration: AegisAI's Live GCP Scanner inspects all 5 services via ephemeral read-only OAuth tokens, and Section 3.4 of every generated Remediated Architecture Blueprint outputs drop-in Terraform/TypeScript enforcement recipes for all 3 phases.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828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AEGIS</a:t>
            </a:r>
            <a:r>
              <a:rPr sz="1800" b="1">
                <a:solidFill>
                  <a:srgbClr val="60A5FA"/>
                </a:solidFill>
                <a:latin typeface="Arial"/>
              </a:rPr>
              <a:t>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1640" y="320040"/>
            <a:ext cx="3108960" cy="292608"/>
          </a:xfrm>
          <a:prstGeom prst="roundRect">
            <a:avLst/>
          </a:prstGeom>
          <a:solidFill>
            <a:srgbClr val="1221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850" b="1">
                <a:solidFill>
                  <a:srgbClr val="60A5FA"/>
                </a:solidFill>
                <a:latin typeface="Arial"/>
              </a:rPr>
              <a:t>OPERATIONAL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10896"/>
            <a:ext cx="1124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Courier New"/>
              </a:rPr>
              <a:t>13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94944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AegisAI Enterprise • 6-Stage Assurance Lifecycle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382512"/>
            <a:ext cx="56080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Full multi-standard OWASP AI-SVS + ISO/IEC 42001 traceability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86384"/>
            <a:ext cx="1109441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38BDF8"/>
                </a:solidFill>
                <a:latin typeface="Arial"/>
              </a:rPr>
              <a:t>OPERATIONAL EXECUTION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Arial"/>
              </a:rPr>
              <a:t>The Auditor's Workflow: From Ingestion to 100% Hardening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  <a:latin typeface="Arial"/>
              </a:rPr>
              <a:t>Six-stage deterministic assurance lifecycle with built-in human oversight and automated code remediation.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38528"/>
            <a:ext cx="5440680" cy="1261872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8BDF8"/>
                </a:solidFill>
                <a:latin typeface="Arial"/>
              </a:rPr>
              <a:t>1. Authenticated Ingestion &amp; Model Armor Guardrails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Corporate user (verified via Cloud IAP + Firebase ID Token) uploads PDFs/ZIPs/specs; Model Armor, inspectPromptAndTrackSession (C02.10) &amp; DLP sanitize input.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328416"/>
            <a:ext cx="5440680" cy="1261872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8BDF8"/>
                </a:solidFill>
                <a:latin typeface="Arial"/>
              </a:rPr>
              <a:t>2. SHA-256 Verified &amp; Model Garden Provenance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Normative snapshots verified against integrity-manifest.json (C01.4), signed Model Garden/Registry verification &amp; tenant-filtered BYOF (C08.1).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18304"/>
            <a:ext cx="5440680" cy="1261872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8BDF8"/>
                </a:solidFill>
                <a:latin typeface="Arial"/>
              </a:rPr>
              <a:t>3. Deterministic Vertex AI Map-Reduce &amp; AutoSxS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gemini-3.8-flash (keyless ADC, temperature: 0.0, responseLogprobs: false) evaluates batches with Vertex Evaluation Service (AutoSxS) audit trail.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1" y="1938528"/>
            <a:ext cx="5440680" cy="1261872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4D399"/>
                </a:solidFill>
                <a:latin typeface="Arial"/>
              </a:rPr>
              <a:t>4. Visual Gap Map &amp; Human Appeal (ISO A.5.2)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Interactive radar charts, evidence-based L1/L2/L3 gap map, and direct Verdict Appeal / Human Review workflow (ai-appeals@aegisai.enterprise).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1" y="3328416"/>
            <a:ext cx="5440680" cy="1261872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4D399"/>
                </a:solidFill>
                <a:latin typeface="Arial"/>
              </a:rPr>
              <a:t>5. 100% Remediated Architecture &amp; Full Cookbook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Synthesizes Section 3 drop-in architecture (incl. 3-Phase GCP Protection Stack) + Section 4 Cookbook for all 1..N findings with syntax tags.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1" y="4718304"/>
            <a:ext cx="5440680" cy="1261872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4D399"/>
                </a:solidFill>
                <a:latin typeface="Arial"/>
              </a:rPr>
              <a:t>6. Model Monitoring, SCC AI &amp; Compensating Saga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Saved to Firestore with ownerUid ACLs (C05.4), runCompensatingSaga rollback (C09.4), Model Monitoring skew/drift checks &amp; SCC AI real-time SOC alerts.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828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AEGIS</a:t>
            </a:r>
            <a:r>
              <a:rPr sz="1800" b="1">
                <a:solidFill>
                  <a:srgbClr val="60A5FA"/>
                </a:solidFill>
                <a:latin typeface="Arial"/>
              </a:rPr>
              <a:t>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1640" y="320040"/>
            <a:ext cx="3108960" cy="292608"/>
          </a:xfrm>
          <a:prstGeom prst="roundRect">
            <a:avLst/>
          </a:prstGeom>
          <a:solidFill>
            <a:srgbClr val="1221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850" b="1">
                <a:solidFill>
                  <a:srgbClr val="60A5FA"/>
                </a:solidFill>
                <a:latin typeface="Arial"/>
              </a:rPr>
              <a:t>SPECS &amp;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10896"/>
            <a:ext cx="1124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Courier New"/>
              </a:rPr>
              <a:t>14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94944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AegisAI Enterprise • Verified Engineering Benchmarks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382512"/>
            <a:ext cx="56080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Audited against OWASP AI-SVS v1.0 &amp; ISO/IEC 42001:2023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86384"/>
            <a:ext cx="1109441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38BDF8"/>
                </a:solidFill>
                <a:latin typeface="Arial"/>
              </a:rPr>
              <a:t>TECHNICAL SPECIFICATIONS &amp; BENCHMARKS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Arial"/>
              </a:rPr>
              <a:t>Verified DevSecOps, Firestore Rules &amp; Self-Audit Metrics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  <a:latin typeface="Arial"/>
              </a:rPr>
              <a:t>Production telemetry and automated verification results from AegisAI v2.5 (Cloud Run revision aegis-ai-00013).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01952"/>
            <a:ext cx="2606040" cy="128016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2400" b="1">
                <a:solidFill>
                  <a:srgbClr val="34D399"/>
                </a:solidFill>
                <a:latin typeface="Arial"/>
              </a:rPr>
              <a:t>97.8%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94A3B8"/>
                </a:solidFill>
                <a:latin typeface="Arial"/>
              </a:rPr>
              <a:t>Self-Audit Score (100% ISO 42001 • 94.7% OWASP AI-SVS)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74136" y="1901952"/>
            <a:ext cx="2606040" cy="128016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2400" b="1">
                <a:solidFill>
                  <a:srgbClr val="38BDF8"/>
                </a:solidFill>
                <a:latin typeface="Arial"/>
              </a:rPr>
              <a:t>308 / 308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94A3B8"/>
                </a:solidFill>
                <a:latin typeface="Arial"/>
              </a:rPr>
              <a:t>Cloud Firestore Security Rules Unit Tests Passed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901952"/>
            <a:ext cx="2606040" cy="128016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587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2400" b="1">
                <a:solidFill>
                  <a:srgbClr val="D8B4FE"/>
                </a:solidFill>
                <a:latin typeface="Arial"/>
              </a:rPr>
              <a:t>5 GCP AI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94A3B8"/>
                </a:solidFill>
                <a:latin typeface="Arial"/>
              </a:rPr>
              <a:t>Native ISO 42001 Security Services (Phases 3, 4 &amp; 5)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34272" y="1901952"/>
            <a:ext cx="2606040" cy="128016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587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2400" b="1">
                <a:solidFill>
                  <a:srgbClr val="FBBF24"/>
                </a:solidFill>
                <a:latin typeface="Arial"/>
              </a:rPr>
              <a:t>0 Failed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94A3B8"/>
                </a:solidFill>
                <a:latin typeface="Arial"/>
              </a:rPr>
              <a:t>Zero Failed Mandatory Controls in Post-Remediation Audit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64992"/>
            <a:ext cx="5440680" cy="274320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8BDF8"/>
                </a:solidFill>
                <a:latin typeface="Arial"/>
              </a:rPr>
              <a:t>Runtime, Container &amp; GCP Protection Specs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Cloud Run Service: aegis-ai (us-central1, Cloud IAP enforced --no-allow-unauthenticated)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Container Rootfs: Non-root user aegisuser with chmod -R a-w /app (C04.1)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Service Account: aegis-runner-sa restricted strictly to roles/aiplatform.user + roles/datastore.user (C05.2)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3-Phase GCP Stack: Model Garden/Registry, Model Armor, Vertex Evaluation (AutoSxS), Model Monitoring &amp; SCC AI Protection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Outbound Network: validateOutboundEndpoint() blocks RFC 1918, loopback &amp; IMDS 169.254.169.254 (C04.3)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3364992"/>
            <a:ext cx="5440680" cy="274320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4D399"/>
                </a:solidFill>
                <a:latin typeface="Arial"/>
              </a:rPr>
              <a:t>Keyless Vertex AI, Multi-Provider &amp; FinOps Specs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Default Engine: Google Vertex AI (gemini-3.8-flash) via keyless IAM ADC (no Gemini API key required)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Multi-Provider Support: Anthropic Claude, OpenRouter, OpenAI Direct &amp; Local/Corporate Proxy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Anti-DoW Quotas (C11.1): 12 audits / 10 min, max 2 concurrent jobs, 1.5M tokens / 24h per user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Multi-Turn Guard (C02.10): Model Armor + 6-turn sliding-window crescendo detector (HTTP 422)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Bilingual Documentation Suite: 8 English PDFs + 9 Spanish PDFs + 3 Executive/FinOps/Master Decks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828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AEGIS</a:t>
            </a:r>
            <a:r>
              <a:rPr sz="1800" b="1">
                <a:solidFill>
                  <a:srgbClr val="60A5FA"/>
                </a:solidFill>
                <a:latin typeface="Arial"/>
              </a:rPr>
              <a:t>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1640" y="320040"/>
            <a:ext cx="3108960" cy="292608"/>
          </a:xfrm>
          <a:prstGeom prst="roundRect">
            <a:avLst/>
          </a:prstGeom>
          <a:solidFill>
            <a:srgbClr val="1221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850" b="1">
                <a:solidFill>
                  <a:srgbClr val="60A5FA"/>
                </a:solidFill>
                <a:latin typeface="Arial"/>
              </a:rPr>
              <a:t>DEFENSE-IN-DEPTH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10896"/>
            <a:ext cx="1124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Courier New"/>
              </a:rPr>
              <a:t>15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94944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AegisAI Enterprise • Complete OWASP AI-SVS v1.0 &amp; ISO/IEC 42001:2023 Traceability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382512"/>
            <a:ext cx="56080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Documented in Manual 2 (Architecture), Manual 3 (Admin), Manual 4/6 (Deployment) &amp; Manual 8 (ISO 42001 AIMS)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86384"/>
            <a:ext cx="1109441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38BDF8"/>
                </a:solidFill>
                <a:latin typeface="Arial"/>
              </a:rPr>
              <a:t>END-TO-END REMEDIATION TRACEABILITY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Arial"/>
              </a:rPr>
              <a:t>OWASP AI-SVS v1.0 &amp; ISO/IEC 42001:2023 Controls Enforced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  <a:latin typeface="Arial"/>
              </a:rPr>
              <a:t>Comprehensive architectural and governance controls implemented across code, container, cloud perimeter, and AIMS policies.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38528"/>
            <a:ext cx="5440680" cy="4160520"/>
          </a:xfrm>
          <a:prstGeom prst="roundRect">
            <a:avLst>
              <a:gd name="adj" fmla="val 4000"/>
            </a:avLst>
          </a:prstGeom>
          <a:solidFill>
            <a:srgbClr val="122142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8BDF8"/>
                </a:solidFill>
                <a:latin typeface="Arial"/>
              </a:rPr>
              <a:t>OWASP AI-SVS v1.0 Technical Controls (17 Hardened Domains)</a:t>
            </a:r>
          </a:p>
          <a:p>
            <a:pPr>
              <a:spcBef>
                <a:spcPts val="400"/>
              </a:spcBef>
            </a:pPr>
            <a:r>
              <a:rPr sz="910">
                <a:solidFill>
                  <a:srgbClr val="E2E8F0"/>
                </a:solidFill>
                <a:latin typeface="Arial"/>
              </a:rPr>
              <a:t>• C01.4 &amp; C13.1 Supply Chain: SHA-256 manifest verification + signed Vertex AI Model Garden / Registry provenance.</a:t>
            </a:r>
          </a:p>
          <a:p>
            <a:pPr>
              <a:spcBef>
                <a:spcPts val="400"/>
              </a:spcBef>
            </a:pPr>
            <a:r>
              <a:rPr sz="910">
                <a:solidFill>
                  <a:srgbClr val="E2E8F0"/>
                </a:solidFill>
                <a:latin typeface="Arial"/>
              </a:rPr>
              <a:t>• C02.10 &amp; C07.1 Prompt/Output Guard: Google Cloud Model Armor inline sanitization + 6-turn Crescendo blocker (HTTP 422).</a:t>
            </a:r>
          </a:p>
          <a:p>
            <a:pPr>
              <a:spcBef>
                <a:spcPts val="400"/>
              </a:spcBef>
            </a:pPr>
            <a:r>
              <a:rPr sz="910">
                <a:solidFill>
                  <a:srgbClr val="E2E8F0"/>
                </a:solidFill>
                <a:latin typeface="Arial"/>
              </a:rPr>
              <a:t>• C04.1 &amp; C04.3 Infrastructure: Read-only /app (chmod -R a-w), Cloud IAP, VPC egress &amp; validateOutboundEndpoint() SSRF/IMDS block.</a:t>
            </a:r>
          </a:p>
          <a:p>
            <a:pPr>
              <a:spcBef>
                <a:spcPts val="400"/>
              </a:spcBef>
            </a:pPr>
            <a:r>
              <a:rPr sz="910">
                <a:solidFill>
                  <a:srgbClr val="E2E8F0"/>
                </a:solidFill>
                <a:latin typeface="Arial"/>
              </a:rPr>
              <a:t>• C05.2, C05.3 &amp; C05.4 Auth/IAM: Pruned roles/viewer on aegis-runner-sa, crypto.timingSafeEqual, Firebase ID token &amp; Firestore ownerUid ACLs.</a:t>
            </a:r>
          </a:p>
          <a:p>
            <a:pPr>
              <a:spcBef>
                <a:spcPts val="400"/>
              </a:spcBef>
            </a:pPr>
            <a:r>
              <a:rPr sz="910">
                <a:solidFill>
                  <a:srgbClr val="E2E8F0"/>
                </a:solidFill>
                <a:latin typeface="Arial"/>
              </a:rPr>
              <a:t>• C08.1 &amp; C08.4 RAG &amp; Evaluation: Tenant domain ACL pre-filtering, Vertex Evaluation Service (AutoSxS) &amp; Model Monitoring skew/drift.</a:t>
            </a:r>
          </a:p>
          <a:p>
            <a:pPr>
              <a:spcBef>
                <a:spcPts val="400"/>
              </a:spcBef>
            </a:pPr>
            <a:r>
              <a:rPr sz="910">
                <a:solidFill>
                  <a:srgbClr val="E2E8F0"/>
                </a:solidFill>
                <a:latin typeface="Arial"/>
              </a:rPr>
              <a:t>• C09.4 &amp; C10.1–C10.5 Agents/MCP: runCompensatingSaga() rollback, MCP Ed25519/HMAC manifest verification, OAuth 2.1 PKCE &amp; dnsRebindingGuard.</a:t>
            </a:r>
          </a:p>
          <a:p>
            <a:pPr>
              <a:spcBef>
                <a:spcPts val="400"/>
              </a:spcBef>
            </a:pPr>
            <a:r>
              <a:rPr sz="910">
                <a:solidFill>
                  <a:srgbClr val="E2E8F0"/>
                </a:solidFill>
                <a:latin typeface="Arial"/>
              </a:rPr>
              <a:t>• C11.1, C11.4 &amp; C12.2 FinOps/SIEM: acquireAntiDoWQuota(), responseLogprobs: false &amp; SCC AI Protection real-time SOC alerts.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938528"/>
            <a:ext cx="5440680" cy="4160520"/>
          </a:xfrm>
          <a:prstGeom prst="roundRect">
            <a:avLst>
              <a:gd name="adj" fmla="val 4000"/>
            </a:avLst>
          </a:prstGeom>
          <a:solidFill>
            <a:srgbClr val="0B2E2B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4D399"/>
                </a:solidFill>
                <a:latin typeface="Arial"/>
              </a:rPr>
              <a:t>ISO/IEC 42001:2023 AIMS Governance Controls (18 Clauses &amp; Annex A)</a:t>
            </a:r>
          </a:p>
          <a:p>
            <a:pPr>
              <a:spcBef>
                <a:spcPts val="400"/>
              </a:spcBef>
            </a:pPr>
            <a:r>
              <a:rPr sz="910">
                <a:solidFill>
                  <a:srgbClr val="E2E8F0"/>
                </a:solidFill>
                <a:latin typeface="Arial"/>
              </a:rPr>
              <a:t>• Clause 4.1 &amp; 4.2 Context &amp; Stakeholders: Formal internal/external issue matrix, societal role as AI assurance provider &amp; stakeholder mapping.</a:t>
            </a:r>
          </a:p>
          <a:p>
            <a:pPr>
              <a:spcBef>
                <a:spcPts val="400"/>
              </a:spcBef>
            </a:pPr>
            <a:r>
              <a:rPr sz="910">
                <a:solidFill>
                  <a:srgbClr val="E2E8F0"/>
                </a:solidFill>
                <a:latin typeface="Arial"/>
              </a:rPr>
              <a:t>• Clause 5.1, 5.2, A.2.1 &amp; A.2.3 Leadership &amp; AI Policy: Executive-approved Corporate AI Policy with annual revision cycle.</a:t>
            </a:r>
          </a:p>
          <a:p>
            <a:pPr>
              <a:spcBef>
                <a:spcPts val="400"/>
              </a:spcBef>
            </a:pPr>
            <a:r>
              <a:rPr sz="910">
                <a:solidFill>
                  <a:srgbClr val="E2E8F0"/>
                </a:solidFill>
                <a:latin typeface="Arial"/>
              </a:rPr>
              <a:t>• Clause 7.2, 7.3 &amp; A.3.3 Competency &amp; Whistleblowing: Mandatory role training &amp; confidential ethics reporting (ai-ethics-whistleblower@aegisai.enterprise).</a:t>
            </a:r>
          </a:p>
          <a:p>
            <a:pPr>
              <a:spcBef>
                <a:spcPts val="400"/>
              </a:spcBef>
            </a:pPr>
            <a:r>
              <a:rPr sz="910">
                <a:solidFill>
                  <a:srgbClr val="E2E8F0"/>
                </a:solidFill>
                <a:latin typeface="Arial"/>
              </a:rPr>
              <a:t>• A.4.1, A.6.1.2 &amp; A.7.3 AI Asset &amp; Model Supply Chain: Cataloged models verified via Vertex AI Model Garden &amp; private Model Registry.</a:t>
            </a:r>
          </a:p>
          <a:p>
            <a:pPr>
              <a:spcBef>
                <a:spcPts val="400"/>
              </a:spcBef>
            </a:pPr>
            <a:r>
              <a:rPr sz="910">
                <a:solidFill>
                  <a:srgbClr val="E2E8F0"/>
                </a:solidFill>
                <a:latin typeface="Arial"/>
              </a:rPr>
              <a:t>• A.5.1–A.5.3 &amp; A.6.2.6 Impact, Appeals &amp; Runtime Safety: Formal AIIA, human appeal channel, Model Armor &amp; Vertex AI Model Monitoring.</a:t>
            </a:r>
          </a:p>
          <a:p>
            <a:pPr>
              <a:spcBef>
                <a:spcPts val="400"/>
              </a:spcBef>
            </a:pPr>
            <a:r>
              <a:rPr sz="910">
                <a:solidFill>
                  <a:srgbClr val="E2E8F0"/>
                </a:solidFill>
                <a:latin typeface="Arial"/>
              </a:rPr>
              <a:t>• Clause 9.1–9.3, A.6.2.4 &amp; A.6.2.8 Assurance &amp; SOC: Vertex Evaluation (AutoSxS) audit trail, semi-annual audits &amp; SCC AI Protection alerts.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828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AEGIS</a:t>
            </a:r>
            <a:r>
              <a:rPr sz="1800" b="1">
                <a:solidFill>
                  <a:srgbClr val="60A5FA"/>
                </a:solidFill>
                <a:latin typeface="Arial"/>
              </a:rPr>
              <a:t>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1640" y="320040"/>
            <a:ext cx="3108960" cy="292608"/>
          </a:xfrm>
          <a:prstGeom prst="roundRect">
            <a:avLst/>
          </a:prstGeom>
          <a:solidFill>
            <a:srgbClr val="1221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850" b="1">
                <a:solidFill>
                  <a:srgbClr val="60A5FA"/>
                </a:solidFill>
                <a:latin typeface="Arial"/>
              </a:rPr>
              <a:t>STRATEGIC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10896"/>
            <a:ext cx="1124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Courier New"/>
              </a:rPr>
              <a:t>16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94944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AegisAI Enterprise • Strategic Vision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382512"/>
            <a:ext cx="56080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Contact: opensource@aegis-ai.dev • GitHub: github.com/fjhuerta-67/AegisAI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86384"/>
            <a:ext cx="1109441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38BDF8"/>
                </a:solidFill>
                <a:latin typeface="Arial"/>
              </a:rPr>
              <a:t>EVOLUTION &amp; ROADMAP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Arial"/>
              </a:rPr>
              <a:t>Next Horizons in AegisAI Platform Engineering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  <a:latin typeface="Arial"/>
              </a:rPr>
              <a:t>Our forward-looking roadmap following our Release Candidate presentations to Farmacias del Ahorro, AMF, and Grupo Coppel.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38528"/>
            <a:ext cx="3547872" cy="292608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800" b="1">
                <a:solidFill>
                  <a:srgbClr val="38BDF8"/>
                </a:solidFill>
                <a:latin typeface="Arial"/>
              </a:rPr>
              <a:t>Q4 2026 • NEAR TERM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38BDF8"/>
                </a:solidFill>
                <a:latin typeface="Arial"/>
              </a:rPr>
              <a:t>Native CI/CD Shift-Left Gates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E2E8F0"/>
                </a:solidFill>
                <a:latin typeface="Arial"/>
              </a:rPr>
              <a:t>Official GitHub Actions and GitLab CI Runners to automatically block pull requests introducing prompt injection vulnerabilities, unsigned MCP manifests, or unencrypted vector storage before merging.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938528"/>
            <a:ext cx="3547872" cy="292608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800" b="1">
                <a:solidFill>
                  <a:srgbClr val="34D399"/>
                </a:solidFill>
                <a:latin typeface="Arial"/>
              </a:rPr>
              <a:t>Q1 2027 • MEDIUM TERM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34D399"/>
                </a:solidFill>
                <a:latin typeface="Arial"/>
              </a:rPr>
              <a:t>Multi-Agent Graph Auditing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E2E8F0"/>
                </a:solidFill>
                <a:latin typeface="Arial"/>
              </a:rPr>
              <a:t>Specialized auditing module for complex autonomous agent workflows (LangGraph, CrewAI, AutoGen): tool authorization boundary checks, compensating saga verification, and inter-agent memory sandboxing.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938528"/>
            <a:ext cx="3547872" cy="292608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800" b="1">
                <a:solidFill>
                  <a:srgbClr val="FBBF24"/>
                </a:solidFill>
                <a:latin typeface="Arial"/>
              </a:rPr>
              <a:t>Q2 2027 • LONG TERM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FBBF24"/>
                </a:solidFill>
                <a:latin typeface="Arial"/>
              </a:rPr>
              <a:t>Autonomous IaC Remediation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E2E8F0"/>
                </a:solidFill>
                <a:latin typeface="Arial"/>
              </a:rPr>
              <a:t>One-click automated synthesis of Terraform Modules and Helm Charts that directly apply Cloud IAP, VPC Service Controls, and Model Armor remediation recipes to cloud clusters.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047488"/>
            <a:ext cx="11094415" cy="1097280"/>
          </a:xfrm>
          <a:prstGeom prst="roundRect">
            <a:avLst>
              <a:gd name="adj" fmla="val 4000"/>
            </a:avLst>
          </a:prstGeom>
          <a:solidFill>
            <a:srgbClr val="0B2E2B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🎯 Conclusion: Enterprise AI Assurance Built for $19.41, Auditing for $0.08–$0.30</a:t>
            </a:r>
          </a:p>
          <a:p>
            <a:pPr>
              <a:spcBef>
                <a:spcPts val="400"/>
              </a:spcBef>
            </a:pPr>
            <a:r>
              <a:rPr sz="960">
                <a:solidFill>
                  <a:srgbClr val="E2E8F0"/>
                </a:solidFill>
                <a:latin typeface="Arial"/>
              </a:rPr>
              <a:t>By combining Google AI Studio, Google Antigravity, Vertex AI Gemini 3.8 Flash, Model Garden/Registry, Model Armor, AutoSxS, Model Monitoring, and SCC AI Protection, AegisAI delivers world-class OWASP AI-SVS &amp; ISO/IEC 42001 assurance at &gt;99% lower cost.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